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d241b7c-6708-19d6-7db8-d61a27bc027c}">
          <p14:sldIdLst>
            <p14:sldId id="256"/>
          </p14:sldIdLst>
        </p14:section>
        <p14:section name="Context" id="{d80eb12a-a93d-f424-5283-25fbe9d0e141}">
          <p14:sldIdLst>
            <p14:sldId id="257"/>
            <p14:sldId id="258"/>
          </p14:sldIdLst>
        </p14:section>
        <p14:section name="Requirements" id="{869249f7-a374-fc45-3d5c-a9222489db06}">
          <p14:sldIdLst>
            <p14:sldId id="259"/>
          </p14:sldIdLst>
        </p14:section>
        <p14:section name="Architecture" id="{1d547f47-6187-c4e9-82b5-13380c9180da}">
          <p14:sldIdLst>
            <p14:sldId id="260"/>
          </p14:sldIdLst>
        </p14:section>
        <p14:section name="Core engine" id="{08ea070b-d7a6-cd0d-9bca-4ad98a0bd0ed}">
          <p14:sldIdLst>
            <p14:sldId id="261"/>
            <p14:sldId id="262"/>
          </p14:sldIdLst>
        </p14:section>
        <p14:section name="Doctor practice" id="{327cd414-c1a9-7c85-f8fa-912ca34d631f}">
          <p14:sldIdLst>
            <p14:sldId id="263"/>
            <p14:sldId id="264"/>
          </p14:sldIdLst>
        </p14:section>
        <p14:section name="Governance" id="{af6ae8d2-b4aa-b339-f734-71de22a19b7d}">
          <p14:sldIdLst>
            <p14:sldId id="265"/>
          </p14:sldIdLst>
        </p14:section>
        <p14:section name="Services" id="{437e3c78-4c1e-fd50-583d-138c6b21eeef}">
          <p14:sldIdLst>
            <p14:sldId id="266"/>
          </p14:sldIdLst>
        </p14:section>
        <p14:section name="Data" id="{8696f191-69bc-524f-b22f-082ec4fffe7c}">
          <p14:sldIdLst>
            <p14:sldId id="267"/>
          </p14:sldIdLst>
        </p14:section>
        <p14:section name="Security" id="{d9b821b9-879e-27e9-a7d5-49050d6f288d}">
          <p14:sldIdLst>
            <p14:sldId id="268"/>
          </p14:sldIdLst>
        </p14:section>
        <p14:section name="Developer experience" id="{29d0d3c2-e8a6-cdd2-4199-5b0d5f838b29}">
          <p14:sldIdLst>
            <p14:sldId id="269"/>
          </p14:sldIdLst>
        </p14:section>
        <p14:section name="Quality" id="{a6e61a70-2c37-e1bf-ef04-facaaf72d107}">
          <p14:sldIdLst>
            <p14:sldId id="270"/>
          </p14:sldIdLst>
        </p14:section>
        <p14:section name="Closing" id="{a9073277-3fa6-2e30-4ad6-6ef530e630e5}">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CareSync, a healthcare appointment system built by Kirtan Patel and Himesh Solanki for the JavaScript Framework PBL course. The grid motif represents appointment slots: each can be taken by exactly one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CareSync pairs a MERN web stack with a Python microservice. Three headline claims: no double-booking, strict role separation, and a verified quality bar of 31 passing tests across 37 documented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pain points drive the design: concurrency race conditions, unverified practitioners, high no-show rates and no revenue visibility for doctors. Each one maps to a feature we show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privilege matrix. Role checks run in middleware, so a patient calling a doctor or admin route receives 403 Forbidden.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React SPA talks JSON to the Express API. Every request passes the middleware chain (Helmet, rate limit, Joi, JWT and RBAC) before controllers and services. Express persists to MongoDB and calls the FastAPI microservice for AI-driven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Compare-and-set in a single database operation: the update only matches while the slot is still AVAILABLE, so exactly one request wins. The partial unique index is a safety net at the storage level. Code shown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Booked moves to Confirmed and Completed under doctor control. Cancellation releases the slot automatically. Rescheduling is an atomic swap between two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 of the doctor dashboard with six bento KPI cards and a realized-versus-projected bar. Numbers are sample data to illustrate the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Doctors define weekly availability once. The generator expands it into concrete 30-minute slots for the next 14 days. A compound unique index prevents duplicates if generation runs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Doctors start in a pending queue. Only verified doctors are bookable. Admins can moderate users, and every admin action lands in an append-only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stateless Python service called by the Express API. It performs urgency triage into three levels, forecasts clinic wait time and dispatches reminders.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collections. Two indexes carry the integrity guarantees: the compound unique index on slots and the partial unique index on active appointments. Field lists are summarised.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layered controls: Helmet headers, bcrypt hashing, Joi schema validation, rate limiting, JWT authentication and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is self-documenting. On start the server opens /api/docs on port 5000, with all 37 endpoints testable using a persistent JWT. Endpoint paths on the slide are representative.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31 automated tests pass. The headline test fires ten parallel requests at one slot: one succeeds with 201, nine receive 409, and the database holds exactly one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was achieved, what we learned, and the roadmap: Razorpay payments and WebRTC telemedicine.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CareSync · Project 4631 · ITM SLS Baroda University</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1"/>
          </a:solidFill>
          <a:ln/>
        </p:spPr>
      </p:sp>
      <p:sp>
        <p:nvSpPr>
          <p:cNvPr id="3" name="Text 1"/>
          <p:cNvSpPr/>
          <p:nvPr>
            <p:ph idx="101"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CareSync · Project 4631 · ITM SLS Baroda University</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CareSync</a:t>
            </a:r>
            <a:endParaRPr lang="en-US" sz="3400" dirty="0"/>
          </a:p>
        </p:txBody>
      </p:sp>
      <p:sp>
        <p:nvSpPr>
          <p:cNvPr id="3" name="Text 1"/>
          <p:cNvSpPr txBox="1"/>
          <p:nvPr/>
        </p:nvSpPr>
        <p:spPr>
          <a:xfrm>
            <a:off x="731520" y="3063240"/>
            <a:ext cx="6217920" cy="457200"/>
          </a:xfrm>
          <a:prstGeom prst="rect">
            <a:avLst/>
          </a:prstGeom>
          <a:noFill/>
          <a:ln/>
        </p:spPr>
        <p:txBody>
          <a:bodyPr wrap="square" lIns="0" tIns="0" rIns="0" bIns="0" rtlCol="0" anchor="t"/>
          <a:lstStyle/>
          <a:p>
            <a:pPr indent="0" marL="0">
              <a:buNone/>
            </a:pPr>
            <a:r>
              <a:rPr lang="en-US" sz="2200" dirty="0">
                <a:solidFill>
                  <a:schemeClr val="accent2"/>
                </a:solidFill>
              </a:rPr>
              <a:t>Real-Time Healthcare Appointment System</a:t>
            </a:r>
            <a:endParaRPr lang="en-US" sz="2200" dirty="0"/>
          </a:p>
        </p:txBody>
      </p:sp>
      <p:sp>
        <p:nvSpPr>
          <p:cNvPr id="4" name="Text 2"/>
          <p:cNvSpPr txBox="1"/>
          <p:nvPr/>
        </p:nvSpPr>
        <p:spPr>
          <a:xfrm>
            <a:off x="731520" y="3931920"/>
            <a:ext cx="6309360" cy="1097280"/>
          </a:xfrm>
          <a:prstGeom prst="rect">
            <a:avLst/>
          </a:prstGeom>
          <a:noFill/>
          <a:ln/>
        </p:spPr>
        <p:txBody>
          <a:bodyPr wrap="square" lIns="0" tIns="0" rIns="0" bIns="0" rtlCol="0" anchor="t"/>
          <a:lstStyle/>
          <a:p>
            <a:pPr indent="0" marL="0">
              <a:spcAft>
                <a:spcPts val="600"/>
              </a:spcAft>
              <a:buNone/>
            </a:pPr>
            <a:r>
              <a:rPr lang="en-US" sz="1400" dirty="0">
                <a:solidFill>
                  <a:schemeClr val="bg2"/>
                </a:solidFill>
              </a:rPr>
              <a:t>Project ID 4631 · JavaScript Framework (PBL) · C2620A3</a:t>
            </a:r>
            <a:endParaRPr lang="en-US" sz="1400" dirty="0"/>
          </a:p>
          <a:p>
            <a:pPr indent="0" marL="0">
              <a:spcAft>
                <a:spcPts val="600"/>
              </a:spcAft>
              <a:buNone/>
            </a:pPr>
            <a:r>
              <a:rPr lang="en-US" sz="1400" dirty="0">
                <a:solidFill>
                  <a:schemeClr val="bg2"/>
                </a:solidFill>
              </a:rPr>
              <a:t>Kirtan Patel (25C21554) · Himesh Solanki (25C21582)</a:t>
            </a:r>
            <a:endParaRPr lang="en-US" sz="1400" dirty="0"/>
          </a:p>
          <a:p>
            <a:pPr indent="0" marL="0">
              <a:spcAft>
                <a:spcPts val="600"/>
              </a:spcAft>
              <a:buNone/>
            </a:pPr>
            <a:r>
              <a:rPr lang="en-US" sz="1400" dirty="0">
                <a:solidFill>
                  <a:schemeClr val="bg2"/>
                </a:solidFill>
              </a:rPr>
              <a:t>B.Tech CSE, Semester 5 · ITM SLS Baroda University, Vadodara</a:t>
            </a:r>
            <a:endParaRPr lang="en-US" sz="1400" dirty="0"/>
          </a:p>
        </p:txBody>
      </p:sp>
      <p:sp>
        <p:nvSpPr>
          <p:cNvPr id="5" name="Shape 3"/>
          <p:cNvSpPr/>
          <p:nvPr/>
        </p:nvSpPr>
        <p:spPr>
          <a:xfrm>
            <a:off x="7589520" y="1371600"/>
            <a:ext cx="548640" cy="548640"/>
          </a:xfrm>
          <a:prstGeom prst="roundRect">
            <a:avLst>
              <a:gd name="adj" fmla="val 13333"/>
            </a:avLst>
          </a:prstGeom>
          <a:solidFill>
            <a:schemeClr val="bg1">
              <a:alpha val="10000"/>
            </a:schemeClr>
          </a:solidFill>
          <a:ln/>
        </p:spPr>
      </p:sp>
      <p:sp>
        <p:nvSpPr>
          <p:cNvPr id="6" name="Shape 4"/>
          <p:cNvSpPr/>
          <p:nvPr/>
        </p:nvSpPr>
        <p:spPr>
          <a:xfrm>
            <a:off x="8275320" y="1371600"/>
            <a:ext cx="548640" cy="548640"/>
          </a:xfrm>
          <a:prstGeom prst="roundRect">
            <a:avLst>
              <a:gd name="adj" fmla="val 13333"/>
            </a:avLst>
          </a:prstGeom>
          <a:solidFill>
            <a:schemeClr val="accent1"/>
          </a:solidFill>
          <a:ln/>
        </p:spPr>
      </p:sp>
      <p:sp>
        <p:nvSpPr>
          <p:cNvPr id="7" name="Shape 5"/>
          <p:cNvSpPr/>
          <p:nvPr/>
        </p:nvSpPr>
        <p:spPr>
          <a:xfrm>
            <a:off x="8961120" y="1371600"/>
            <a:ext cx="548640" cy="548640"/>
          </a:xfrm>
          <a:prstGeom prst="roundRect">
            <a:avLst>
              <a:gd name="adj" fmla="val 13333"/>
            </a:avLst>
          </a:prstGeom>
          <a:solidFill>
            <a:schemeClr val="bg1">
              <a:alpha val="10000"/>
            </a:schemeClr>
          </a:solidFill>
          <a:ln/>
        </p:spPr>
      </p:sp>
      <p:sp>
        <p:nvSpPr>
          <p:cNvPr id="8" name="Shape 6"/>
          <p:cNvSpPr/>
          <p:nvPr/>
        </p:nvSpPr>
        <p:spPr>
          <a:xfrm>
            <a:off x="9646920" y="1371600"/>
            <a:ext cx="548640" cy="548640"/>
          </a:xfrm>
          <a:prstGeom prst="roundRect">
            <a:avLst>
              <a:gd name="adj" fmla="val 13333"/>
            </a:avLst>
          </a:prstGeom>
          <a:solidFill>
            <a:schemeClr val="bg1">
              <a:alpha val="10000"/>
            </a:schemeClr>
          </a:solidFill>
          <a:ln/>
        </p:spPr>
      </p:sp>
      <p:sp>
        <p:nvSpPr>
          <p:cNvPr id="9" name="Shape 7"/>
          <p:cNvSpPr/>
          <p:nvPr/>
        </p:nvSpPr>
        <p:spPr>
          <a:xfrm>
            <a:off x="10332720" y="1371600"/>
            <a:ext cx="548640" cy="548640"/>
          </a:xfrm>
          <a:prstGeom prst="roundRect">
            <a:avLst>
              <a:gd name="adj" fmla="val 13333"/>
            </a:avLst>
          </a:prstGeom>
          <a:solidFill>
            <a:schemeClr val="accent2"/>
          </a:solidFill>
          <a:ln/>
        </p:spPr>
      </p:sp>
      <p:sp>
        <p:nvSpPr>
          <p:cNvPr id="10" name="Shape 8"/>
          <p:cNvSpPr/>
          <p:nvPr/>
        </p:nvSpPr>
        <p:spPr>
          <a:xfrm>
            <a:off x="11018520" y="1371600"/>
            <a:ext cx="548640" cy="548640"/>
          </a:xfrm>
          <a:prstGeom prst="roundRect">
            <a:avLst>
              <a:gd name="adj" fmla="val 13333"/>
            </a:avLst>
          </a:prstGeom>
          <a:solidFill>
            <a:schemeClr val="bg1">
              <a:alpha val="10000"/>
            </a:schemeClr>
          </a:solidFill>
          <a:ln/>
        </p:spPr>
      </p:sp>
      <p:sp>
        <p:nvSpPr>
          <p:cNvPr id="11" name="Shape 9"/>
          <p:cNvSpPr/>
          <p:nvPr/>
        </p:nvSpPr>
        <p:spPr>
          <a:xfrm>
            <a:off x="7589520" y="2057400"/>
            <a:ext cx="548640" cy="548640"/>
          </a:xfrm>
          <a:prstGeom prst="roundRect">
            <a:avLst>
              <a:gd name="adj" fmla="val 13333"/>
            </a:avLst>
          </a:prstGeom>
          <a:solidFill>
            <a:schemeClr val="accent1"/>
          </a:solidFill>
          <a:ln/>
        </p:spPr>
      </p:sp>
      <p:sp>
        <p:nvSpPr>
          <p:cNvPr id="12" name="Shape 10"/>
          <p:cNvSpPr/>
          <p:nvPr/>
        </p:nvSpPr>
        <p:spPr>
          <a:xfrm>
            <a:off x="8275320" y="2057400"/>
            <a:ext cx="548640" cy="548640"/>
          </a:xfrm>
          <a:prstGeom prst="roundRect">
            <a:avLst>
              <a:gd name="adj" fmla="val 13333"/>
            </a:avLst>
          </a:prstGeom>
          <a:solidFill>
            <a:schemeClr val="bg1">
              <a:alpha val="10000"/>
            </a:schemeClr>
          </a:solidFill>
          <a:ln/>
        </p:spPr>
      </p:sp>
      <p:sp>
        <p:nvSpPr>
          <p:cNvPr id="13" name="Shape 11"/>
          <p:cNvSpPr/>
          <p:nvPr/>
        </p:nvSpPr>
        <p:spPr>
          <a:xfrm>
            <a:off x="8961120" y="2057400"/>
            <a:ext cx="548640" cy="548640"/>
          </a:xfrm>
          <a:prstGeom prst="roundRect">
            <a:avLst>
              <a:gd name="adj" fmla="val 13333"/>
            </a:avLst>
          </a:prstGeom>
          <a:solidFill>
            <a:schemeClr val="bg1">
              <a:alpha val="10000"/>
            </a:schemeClr>
          </a:solidFill>
          <a:ln/>
        </p:spPr>
      </p:sp>
      <p:sp>
        <p:nvSpPr>
          <p:cNvPr id="14" name="Shape 12"/>
          <p:cNvSpPr/>
          <p:nvPr/>
        </p:nvSpPr>
        <p:spPr>
          <a:xfrm>
            <a:off x="9646920" y="2057400"/>
            <a:ext cx="548640" cy="548640"/>
          </a:xfrm>
          <a:prstGeom prst="roundRect">
            <a:avLst>
              <a:gd name="adj" fmla="val 13333"/>
            </a:avLst>
          </a:prstGeom>
          <a:solidFill>
            <a:schemeClr val="accent1"/>
          </a:solidFill>
          <a:ln/>
        </p:spPr>
      </p:sp>
      <p:sp>
        <p:nvSpPr>
          <p:cNvPr id="15" name="Shape 13"/>
          <p:cNvSpPr/>
          <p:nvPr/>
        </p:nvSpPr>
        <p:spPr>
          <a:xfrm>
            <a:off x="10332720" y="2057400"/>
            <a:ext cx="548640" cy="548640"/>
          </a:xfrm>
          <a:prstGeom prst="roundRect">
            <a:avLst>
              <a:gd name="adj" fmla="val 13333"/>
            </a:avLst>
          </a:prstGeom>
          <a:solidFill>
            <a:schemeClr val="bg1">
              <a:alpha val="10000"/>
            </a:schemeClr>
          </a:solidFill>
          <a:ln/>
        </p:spPr>
      </p:sp>
      <p:sp>
        <p:nvSpPr>
          <p:cNvPr id="16" name="Shape 14"/>
          <p:cNvSpPr/>
          <p:nvPr/>
        </p:nvSpPr>
        <p:spPr>
          <a:xfrm>
            <a:off x="11018520" y="2057400"/>
            <a:ext cx="548640" cy="548640"/>
          </a:xfrm>
          <a:prstGeom prst="roundRect">
            <a:avLst>
              <a:gd name="adj" fmla="val 13333"/>
            </a:avLst>
          </a:prstGeom>
          <a:solidFill>
            <a:schemeClr val="bg1">
              <a:alpha val="10000"/>
            </a:schemeClr>
          </a:solidFill>
          <a:ln/>
        </p:spPr>
      </p:sp>
      <p:sp>
        <p:nvSpPr>
          <p:cNvPr id="17" name="Shape 15"/>
          <p:cNvSpPr/>
          <p:nvPr/>
        </p:nvSpPr>
        <p:spPr>
          <a:xfrm>
            <a:off x="7589520" y="2743200"/>
            <a:ext cx="548640" cy="548640"/>
          </a:xfrm>
          <a:prstGeom prst="roundRect">
            <a:avLst>
              <a:gd name="adj" fmla="val 13333"/>
            </a:avLst>
          </a:prstGeom>
          <a:solidFill>
            <a:schemeClr val="bg1">
              <a:alpha val="10000"/>
            </a:schemeClr>
          </a:solidFill>
          <a:ln/>
        </p:spPr>
      </p:sp>
      <p:sp>
        <p:nvSpPr>
          <p:cNvPr id="18" name="Shape 16"/>
          <p:cNvSpPr/>
          <p:nvPr/>
        </p:nvSpPr>
        <p:spPr>
          <a:xfrm>
            <a:off x="8275320" y="2743200"/>
            <a:ext cx="548640" cy="548640"/>
          </a:xfrm>
          <a:prstGeom prst="roundRect">
            <a:avLst>
              <a:gd name="adj" fmla="val 13333"/>
            </a:avLst>
          </a:prstGeom>
          <a:solidFill>
            <a:schemeClr val="bg1">
              <a:alpha val="10000"/>
            </a:schemeClr>
          </a:solidFill>
          <a:ln/>
        </p:spPr>
      </p:sp>
      <p:sp>
        <p:nvSpPr>
          <p:cNvPr id="19" name="Shape 17"/>
          <p:cNvSpPr/>
          <p:nvPr/>
        </p:nvSpPr>
        <p:spPr>
          <a:xfrm>
            <a:off x="8961120" y="2743200"/>
            <a:ext cx="548640" cy="548640"/>
          </a:xfrm>
          <a:prstGeom prst="roundRect">
            <a:avLst>
              <a:gd name="adj" fmla="val 13333"/>
            </a:avLst>
          </a:prstGeom>
          <a:solidFill>
            <a:schemeClr val="accent2"/>
          </a:solidFill>
          <a:ln/>
        </p:spPr>
      </p:sp>
      <p:sp>
        <p:nvSpPr>
          <p:cNvPr id="20" name="Shape 18"/>
          <p:cNvSpPr/>
          <p:nvPr/>
        </p:nvSpPr>
        <p:spPr>
          <a:xfrm>
            <a:off x="9646920" y="2743200"/>
            <a:ext cx="548640" cy="548640"/>
          </a:xfrm>
          <a:prstGeom prst="roundRect">
            <a:avLst>
              <a:gd name="adj" fmla="val 13333"/>
            </a:avLst>
          </a:prstGeom>
          <a:solidFill>
            <a:schemeClr val="bg1">
              <a:alpha val="10000"/>
            </a:schemeClr>
          </a:solidFill>
          <a:ln/>
        </p:spPr>
      </p:sp>
      <p:sp>
        <p:nvSpPr>
          <p:cNvPr id="21" name="Shape 19"/>
          <p:cNvSpPr/>
          <p:nvPr/>
        </p:nvSpPr>
        <p:spPr>
          <a:xfrm>
            <a:off x="10332720" y="2743200"/>
            <a:ext cx="548640" cy="548640"/>
          </a:xfrm>
          <a:prstGeom prst="roundRect">
            <a:avLst>
              <a:gd name="adj" fmla="val 13333"/>
            </a:avLst>
          </a:prstGeom>
          <a:solidFill>
            <a:schemeClr val="bg1">
              <a:alpha val="10000"/>
            </a:schemeClr>
          </a:solidFill>
          <a:ln/>
        </p:spPr>
      </p:sp>
      <p:sp>
        <p:nvSpPr>
          <p:cNvPr id="22" name="Shape 20"/>
          <p:cNvSpPr/>
          <p:nvPr/>
        </p:nvSpPr>
        <p:spPr>
          <a:xfrm>
            <a:off x="11018520" y="2743200"/>
            <a:ext cx="548640" cy="548640"/>
          </a:xfrm>
          <a:prstGeom prst="roundRect">
            <a:avLst>
              <a:gd name="adj" fmla="val 13333"/>
            </a:avLst>
          </a:prstGeom>
          <a:solidFill>
            <a:schemeClr val="accent1"/>
          </a:solidFill>
          <a:ln/>
        </p:spPr>
      </p:sp>
      <p:sp>
        <p:nvSpPr>
          <p:cNvPr id="23" name="Shape 21"/>
          <p:cNvSpPr/>
          <p:nvPr/>
        </p:nvSpPr>
        <p:spPr>
          <a:xfrm>
            <a:off x="7589520" y="3429000"/>
            <a:ext cx="548640" cy="548640"/>
          </a:xfrm>
          <a:prstGeom prst="roundRect">
            <a:avLst>
              <a:gd name="adj" fmla="val 13333"/>
            </a:avLst>
          </a:prstGeom>
          <a:solidFill>
            <a:schemeClr val="bg1">
              <a:alpha val="10000"/>
            </a:schemeClr>
          </a:solidFill>
          <a:ln/>
        </p:spPr>
      </p:sp>
      <p:sp>
        <p:nvSpPr>
          <p:cNvPr id="24" name="Shape 22"/>
          <p:cNvSpPr/>
          <p:nvPr/>
        </p:nvSpPr>
        <p:spPr>
          <a:xfrm>
            <a:off x="8275320" y="3429000"/>
            <a:ext cx="548640" cy="548640"/>
          </a:xfrm>
          <a:prstGeom prst="roundRect">
            <a:avLst>
              <a:gd name="adj" fmla="val 13333"/>
            </a:avLst>
          </a:prstGeom>
          <a:solidFill>
            <a:schemeClr val="accent1"/>
          </a:solidFill>
          <a:ln/>
        </p:spPr>
      </p:sp>
      <p:sp>
        <p:nvSpPr>
          <p:cNvPr id="25" name="Shape 23"/>
          <p:cNvSpPr/>
          <p:nvPr/>
        </p:nvSpPr>
        <p:spPr>
          <a:xfrm>
            <a:off x="8961120" y="3429000"/>
            <a:ext cx="548640" cy="548640"/>
          </a:xfrm>
          <a:prstGeom prst="roundRect">
            <a:avLst>
              <a:gd name="adj" fmla="val 13333"/>
            </a:avLst>
          </a:prstGeom>
          <a:solidFill>
            <a:schemeClr val="bg1">
              <a:alpha val="10000"/>
            </a:schemeClr>
          </a:solidFill>
          <a:ln/>
        </p:spPr>
      </p:sp>
      <p:sp>
        <p:nvSpPr>
          <p:cNvPr id="26" name="Shape 24"/>
          <p:cNvSpPr/>
          <p:nvPr/>
        </p:nvSpPr>
        <p:spPr>
          <a:xfrm>
            <a:off x="9646920" y="3429000"/>
            <a:ext cx="548640" cy="548640"/>
          </a:xfrm>
          <a:prstGeom prst="roundRect">
            <a:avLst>
              <a:gd name="adj" fmla="val 13333"/>
            </a:avLst>
          </a:prstGeom>
          <a:solidFill>
            <a:schemeClr val="bg1">
              <a:alpha val="10000"/>
            </a:schemeClr>
          </a:solidFill>
          <a:ln/>
        </p:spPr>
      </p:sp>
      <p:sp>
        <p:nvSpPr>
          <p:cNvPr id="27" name="Shape 25"/>
          <p:cNvSpPr/>
          <p:nvPr/>
        </p:nvSpPr>
        <p:spPr>
          <a:xfrm>
            <a:off x="10332720" y="3429000"/>
            <a:ext cx="548640" cy="548640"/>
          </a:xfrm>
          <a:prstGeom prst="roundRect">
            <a:avLst>
              <a:gd name="adj" fmla="val 13333"/>
            </a:avLst>
          </a:prstGeom>
          <a:solidFill>
            <a:schemeClr val="bg1">
              <a:alpha val="10000"/>
            </a:schemeClr>
          </a:solidFill>
          <a:ln/>
        </p:spPr>
      </p:sp>
      <p:sp>
        <p:nvSpPr>
          <p:cNvPr id="28" name="Shape 26"/>
          <p:cNvSpPr/>
          <p:nvPr/>
        </p:nvSpPr>
        <p:spPr>
          <a:xfrm>
            <a:off x="11018520" y="3429000"/>
            <a:ext cx="548640" cy="548640"/>
          </a:xfrm>
          <a:prstGeom prst="roundRect">
            <a:avLst>
              <a:gd name="adj" fmla="val 13333"/>
            </a:avLst>
          </a:prstGeom>
          <a:solidFill>
            <a:schemeClr val="bg1">
              <a:alpha val="10000"/>
            </a:schemeClr>
          </a:solidFill>
          <a:ln/>
        </p:spPr>
      </p:sp>
      <p:sp>
        <p:nvSpPr>
          <p:cNvPr id="29" name="Shape 27"/>
          <p:cNvSpPr/>
          <p:nvPr/>
        </p:nvSpPr>
        <p:spPr>
          <a:xfrm>
            <a:off x="7589520" y="4114800"/>
            <a:ext cx="548640" cy="548640"/>
          </a:xfrm>
          <a:prstGeom prst="roundRect">
            <a:avLst>
              <a:gd name="adj" fmla="val 13333"/>
            </a:avLst>
          </a:prstGeom>
          <a:solidFill>
            <a:schemeClr val="bg1">
              <a:alpha val="10000"/>
            </a:schemeClr>
          </a:solidFill>
          <a:ln/>
        </p:spPr>
      </p:sp>
      <p:sp>
        <p:nvSpPr>
          <p:cNvPr id="30" name="Shape 28"/>
          <p:cNvSpPr/>
          <p:nvPr/>
        </p:nvSpPr>
        <p:spPr>
          <a:xfrm>
            <a:off x="8275320" y="4114800"/>
            <a:ext cx="548640" cy="548640"/>
          </a:xfrm>
          <a:prstGeom prst="roundRect">
            <a:avLst>
              <a:gd name="adj" fmla="val 13333"/>
            </a:avLst>
          </a:prstGeom>
          <a:solidFill>
            <a:schemeClr val="bg1">
              <a:alpha val="10000"/>
            </a:schemeClr>
          </a:solidFill>
          <a:ln/>
        </p:spPr>
      </p:sp>
      <p:sp>
        <p:nvSpPr>
          <p:cNvPr id="31" name="Shape 29"/>
          <p:cNvSpPr/>
          <p:nvPr/>
        </p:nvSpPr>
        <p:spPr>
          <a:xfrm>
            <a:off x="8961120" y="4114800"/>
            <a:ext cx="548640" cy="548640"/>
          </a:xfrm>
          <a:prstGeom prst="roundRect">
            <a:avLst>
              <a:gd name="adj" fmla="val 13333"/>
            </a:avLst>
          </a:prstGeom>
          <a:solidFill>
            <a:schemeClr val="bg1">
              <a:alpha val="10000"/>
            </a:schemeClr>
          </a:solidFill>
          <a:ln/>
        </p:spPr>
      </p:sp>
      <p:sp>
        <p:nvSpPr>
          <p:cNvPr id="32" name="Shape 30"/>
          <p:cNvSpPr/>
          <p:nvPr/>
        </p:nvSpPr>
        <p:spPr>
          <a:xfrm>
            <a:off x="9646920" y="4114800"/>
            <a:ext cx="548640" cy="548640"/>
          </a:xfrm>
          <a:prstGeom prst="roundRect">
            <a:avLst>
              <a:gd name="adj" fmla="val 13333"/>
            </a:avLst>
          </a:prstGeom>
          <a:solidFill>
            <a:schemeClr val="accent1"/>
          </a:solidFill>
          <a:ln/>
        </p:spPr>
      </p:sp>
      <p:sp>
        <p:nvSpPr>
          <p:cNvPr id="33" name="Shape 31"/>
          <p:cNvSpPr/>
          <p:nvPr/>
        </p:nvSpPr>
        <p:spPr>
          <a:xfrm>
            <a:off x="10332720" y="4114800"/>
            <a:ext cx="548640" cy="548640"/>
          </a:xfrm>
          <a:prstGeom prst="roundRect">
            <a:avLst>
              <a:gd name="adj" fmla="val 13333"/>
            </a:avLst>
          </a:prstGeom>
          <a:solidFill>
            <a:schemeClr val="bg1">
              <a:alpha val="10000"/>
            </a:schemeClr>
          </a:solidFill>
          <a:ln/>
        </p:spPr>
      </p:sp>
      <p:sp>
        <p:nvSpPr>
          <p:cNvPr id="34" name="Shape 32"/>
          <p:cNvSpPr/>
          <p:nvPr/>
        </p:nvSpPr>
        <p:spPr>
          <a:xfrm>
            <a:off x="11018520" y="4114800"/>
            <a:ext cx="548640" cy="548640"/>
          </a:xfrm>
          <a:prstGeom prst="roundRect">
            <a:avLst>
              <a:gd name="adj" fmla="val 13333"/>
            </a:avLst>
          </a:prstGeom>
          <a:solidFill>
            <a:schemeClr val="accent2"/>
          </a:solidFill>
          <a:ln/>
        </p:spPr>
      </p:sp>
      <p:sp>
        <p:nvSpPr>
          <p:cNvPr id="35" name="Text 33"/>
          <p:cNvSpPr txBox="1"/>
          <p:nvPr/>
        </p:nvSpPr>
        <p:spPr>
          <a:xfrm>
            <a:off x="7589520" y="4937760"/>
            <a:ext cx="4023360" cy="365760"/>
          </a:xfrm>
          <a:prstGeom prst="rect">
            <a:avLst/>
          </a:prstGeom>
          <a:noFill/>
          <a:ln/>
        </p:spPr>
        <p:txBody>
          <a:bodyPr wrap="square" lIns="0" tIns="0" rIns="0" bIns="0" rtlCol="0" anchor="t"/>
          <a:lstStyle/>
          <a:p>
            <a:pPr indent="0" marL="0">
              <a:buNone/>
            </a:pPr>
            <a:r>
              <a:rPr lang="en-US" sz="1600" i="1" dirty="0">
                <a:solidFill>
                  <a:schemeClr val="bg2"/>
                </a:solidFill>
                <a:latin typeface="Cambria" pitchFamily="34" charset="0"/>
                <a:ea typeface="Cambria" pitchFamily="34" charset="-122"/>
                <a:cs typeface="Cambria" pitchFamily="34" charset="-120"/>
              </a:rPr>
              <a:t>One slot. One patient. Every time.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What CareSync delivers</a:t>
            </a:r>
            <a:endParaRPr lang="en-US" sz="3400" dirty="0"/>
          </a:p>
        </p:txBody>
      </p:sp>
      <p:sp>
        <p:nvSpPr>
          <p:cNvPr id="3" name="Text 1"/>
          <p:cNvSpPr txBox="1"/>
          <p:nvPr/>
        </p:nvSpPr>
        <p:spPr>
          <a:xfrm>
            <a:off x="548640" y="146304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 name="Text 2"/>
          <p:cNvSpPr txBox="1"/>
          <p:nvPr/>
        </p:nvSpPr>
        <p:spPr>
          <a:xfrm>
            <a:off x="1188720" y="1444752"/>
            <a:ext cx="530352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Decoupled architecture</a:t>
            </a:r>
            <a:endParaRPr lang="en-US" sz="2000" dirty="0"/>
          </a:p>
        </p:txBody>
      </p:sp>
      <p:sp>
        <p:nvSpPr>
          <p:cNvPr id="5" name="Text 3"/>
          <p:cNvSpPr txBox="1"/>
          <p:nvPr/>
        </p:nvSpPr>
        <p:spPr>
          <a:xfrm>
            <a:off x="1188720" y="1874520"/>
            <a:ext cx="5303520" cy="914400"/>
          </a:xfrm>
          <a:prstGeom prst="rect">
            <a:avLst/>
          </a:prstGeom>
          <a:noFill/>
          <a:ln/>
        </p:spPr>
        <p:txBody>
          <a:bodyPr wrap="square" lIns="0" tIns="0" rIns="0" bIns="0" rtlCol="0" anchor="t"/>
          <a:lstStyle/>
          <a:p>
            <a:pPr indent="0" marL="0">
              <a:buNone/>
            </a:pPr>
            <a:r>
              <a:rPr lang="en-US" sz="1500" dirty="0">
                <a:solidFill>
                  <a:schemeClr val="tx2"/>
                </a:solidFill>
              </a:rPr>
              <a:t>React 19 SPA, Express 5 API and a Python FastAPI microservice, backed by MongoDB.</a:t>
            </a:r>
            <a:endParaRPr lang="en-US" sz="1500" dirty="0"/>
          </a:p>
        </p:txBody>
      </p:sp>
      <p:sp>
        <p:nvSpPr>
          <p:cNvPr id="6" name="Text 4"/>
          <p:cNvSpPr txBox="1"/>
          <p:nvPr/>
        </p:nvSpPr>
        <p:spPr>
          <a:xfrm>
            <a:off x="548640" y="3063240"/>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 name="Text 5"/>
          <p:cNvSpPr txBox="1"/>
          <p:nvPr/>
        </p:nvSpPr>
        <p:spPr>
          <a:xfrm>
            <a:off x="1188720" y="3044952"/>
            <a:ext cx="530352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Zero double-booking</a:t>
            </a:r>
            <a:endParaRPr lang="en-US" sz="2000" dirty="0"/>
          </a:p>
        </p:txBody>
      </p:sp>
      <p:sp>
        <p:nvSpPr>
          <p:cNvPr id="8" name="Text 6"/>
          <p:cNvSpPr txBox="1"/>
          <p:nvPr/>
        </p:nvSpPr>
        <p:spPr>
          <a:xfrm>
            <a:off x="1188720" y="3474720"/>
            <a:ext cx="5303520" cy="914400"/>
          </a:xfrm>
          <a:prstGeom prst="rect">
            <a:avLst/>
          </a:prstGeom>
          <a:noFill/>
          <a:ln/>
        </p:spPr>
        <p:txBody>
          <a:bodyPr wrap="square" lIns="0" tIns="0" rIns="0" bIns="0" rtlCol="0" anchor="t"/>
          <a:lstStyle/>
          <a:p>
            <a:pPr indent="0" marL="0">
              <a:buNone/>
            </a:pPr>
            <a:r>
              <a:rPr lang="en-US" sz="1500" dirty="0">
                <a:solidFill>
                  <a:schemeClr val="tx2"/>
                </a:solidFill>
              </a:rPr>
              <a:t>Booking is an atomic database operation, so two patients can never hold the same slot.</a:t>
            </a:r>
            <a:endParaRPr lang="en-US" sz="1500" dirty="0"/>
          </a:p>
        </p:txBody>
      </p:sp>
      <p:sp>
        <p:nvSpPr>
          <p:cNvPr id="9" name="Text 7"/>
          <p:cNvSpPr txBox="1"/>
          <p:nvPr/>
        </p:nvSpPr>
        <p:spPr>
          <a:xfrm>
            <a:off x="548640" y="466344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0" name="Text 8"/>
          <p:cNvSpPr txBox="1"/>
          <p:nvPr/>
        </p:nvSpPr>
        <p:spPr>
          <a:xfrm>
            <a:off x="1188720" y="4645152"/>
            <a:ext cx="530352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Role-based by design</a:t>
            </a:r>
            <a:endParaRPr lang="en-US" sz="2000" dirty="0"/>
          </a:p>
        </p:txBody>
      </p:sp>
      <p:sp>
        <p:nvSpPr>
          <p:cNvPr id="11" name="Text 9"/>
          <p:cNvSpPr txBox="1"/>
          <p:nvPr/>
        </p:nvSpPr>
        <p:spPr>
          <a:xfrm>
            <a:off x="1188720" y="5074920"/>
            <a:ext cx="5303520" cy="914400"/>
          </a:xfrm>
          <a:prstGeom prst="rect">
            <a:avLst/>
          </a:prstGeom>
          <a:noFill/>
          <a:ln/>
        </p:spPr>
        <p:txBody>
          <a:bodyPr wrap="square" lIns="0" tIns="0" rIns="0" bIns="0" rtlCol="0" anchor="t"/>
          <a:lstStyle/>
          <a:p>
            <a:pPr indent="0" marL="0">
              <a:buNone/>
            </a:pPr>
            <a:r>
              <a:rPr lang="en-US" sz="1500" dirty="0">
                <a:solidFill>
                  <a:schemeClr val="tx2"/>
                </a:solidFill>
              </a:rPr>
              <a:t>Patients, doctors and administrators each see and do only what their role allows.</a:t>
            </a:r>
            <a:endParaRPr lang="en-US" sz="1500" dirty="0"/>
          </a:p>
        </p:txBody>
      </p:sp>
      <p:sp>
        <p:nvSpPr>
          <p:cNvPr id="12" name="Shape 10"/>
          <p:cNvSpPr/>
          <p:nvPr/>
        </p:nvSpPr>
        <p:spPr>
          <a:xfrm>
            <a:off x="7315200" y="1463040"/>
            <a:ext cx="4297680" cy="1371600"/>
          </a:xfrm>
          <a:prstGeom prst="roundRect">
            <a:avLst>
              <a:gd name="adj" fmla="val 6667"/>
            </a:avLst>
          </a:prstGeom>
          <a:solidFill>
            <a:schemeClr val="bg2"/>
          </a:solidFill>
          <a:ln/>
        </p:spPr>
      </p:sp>
      <p:sp>
        <p:nvSpPr>
          <p:cNvPr id="13" name="Text 11"/>
          <p:cNvSpPr txBox="1"/>
          <p:nvPr/>
        </p:nvSpPr>
        <p:spPr>
          <a:xfrm>
            <a:off x="7589520" y="1645920"/>
            <a:ext cx="374904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37</a:t>
            </a:r>
            <a:endParaRPr lang="en-US" sz="4000" dirty="0"/>
          </a:p>
        </p:txBody>
      </p:sp>
      <p:sp>
        <p:nvSpPr>
          <p:cNvPr id="14" name="Text 12"/>
          <p:cNvSpPr txBox="1"/>
          <p:nvPr/>
        </p:nvSpPr>
        <p:spPr>
          <a:xfrm>
            <a:off x="7589520" y="2286000"/>
            <a:ext cx="3749040" cy="365760"/>
          </a:xfrm>
          <a:prstGeom prst="rect">
            <a:avLst/>
          </a:prstGeom>
          <a:noFill/>
          <a:ln/>
        </p:spPr>
        <p:txBody>
          <a:bodyPr wrap="square" lIns="0" tIns="0" rIns="0" bIns="0" rtlCol="0" anchor="t"/>
          <a:lstStyle/>
          <a:p>
            <a:pPr indent="0" marL="0">
              <a:buNone/>
            </a:pPr>
            <a:r>
              <a:rPr lang="en-US" sz="1400" dirty="0">
                <a:solidFill>
                  <a:schemeClr val="tx2"/>
                </a:solidFill>
              </a:rPr>
              <a:t>REST endpoints, documented in Swagger</a:t>
            </a:r>
            <a:endParaRPr lang="en-US" sz="1400" dirty="0"/>
          </a:p>
        </p:txBody>
      </p:sp>
      <p:sp>
        <p:nvSpPr>
          <p:cNvPr id="15" name="Shape 13"/>
          <p:cNvSpPr/>
          <p:nvPr/>
        </p:nvSpPr>
        <p:spPr>
          <a:xfrm>
            <a:off x="7315200" y="3063240"/>
            <a:ext cx="4297680" cy="1371600"/>
          </a:xfrm>
          <a:prstGeom prst="roundRect">
            <a:avLst>
              <a:gd name="adj" fmla="val 6667"/>
            </a:avLst>
          </a:prstGeom>
          <a:solidFill>
            <a:schemeClr val="bg2"/>
          </a:solidFill>
          <a:ln/>
        </p:spPr>
      </p:sp>
      <p:sp>
        <p:nvSpPr>
          <p:cNvPr id="16" name="Text 14"/>
          <p:cNvSpPr txBox="1"/>
          <p:nvPr/>
        </p:nvSpPr>
        <p:spPr>
          <a:xfrm>
            <a:off x="7589520" y="3246120"/>
            <a:ext cx="3749040" cy="64008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31 / 31</a:t>
            </a:r>
            <a:endParaRPr lang="en-US" sz="4000" dirty="0"/>
          </a:p>
        </p:txBody>
      </p:sp>
      <p:sp>
        <p:nvSpPr>
          <p:cNvPr id="17" name="Text 15"/>
          <p:cNvSpPr txBox="1"/>
          <p:nvPr/>
        </p:nvSpPr>
        <p:spPr>
          <a:xfrm>
            <a:off x="7589520" y="3886200"/>
            <a:ext cx="3749040" cy="365760"/>
          </a:xfrm>
          <a:prstGeom prst="rect">
            <a:avLst/>
          </a:prstGeom>
          <a:noFill/>
          <a:ln/>
        </p:spPr>
        <p:txBody>
          <a:bodyPr wrap="square" lIns="0" tIns="0" rIns="0" bIns="0" rtlCol="0" anchor="t"/>
          <a:lstStyle/>
          <a:p>
            <a:pPr indent="0" marL="0">
              <a:buNone/>
            </a:pPr>
            <a:r>
              <a:rPr lang="en-US" sz="1400" dirty="0">
                <a:solidFill>
                  <a:schemeClr val="tx2"/>
                </a:solidFill>
              </a:rPr>
              <a:t>automated tests passing</a:t>
            </a:r>
            <a:endParaRPr lang="en-US" sz="1400" dirty="0"/>
          </a:p>
        </p:txBody>
      </p:sp>
      <p:sp>
        <p:nvSpPr>
          <p:cNvPr id="18" name="Shape 16"/>
          <p:cNvSpPr/>
          <p:nvPr/>
        </p:nvSpPr>
        <p:spPr>
          <a:xfrm>
            <a:off x="7315200" y="4663440"/>
            <a:ext cx="4297680" cy="1371600"/>
          </a:xfrm>
          <a:prstGeom prst="roundRect">
            <a:avLst>
              <a:gd name="adj" fmla="val 6667"/>
            </a:avLst>
          </a:prstGeom>
          <a:solidFill>
            <a:schemeClr val="bg2"/>
          </a:solidFill>
          <a:ln/>
        </p:spPr>
      </p:sp>
      <p:sp>
        <p:nvSpPr>
          <p:cNvPr id="19" name="Text 17"/>
          <p:cNvSpPr txBox="1"/>
          <p:nvPr/>
        </p:nvSpPr>
        <p:spPr>
          <a:xfrm>
            <a:off x="7589520" y="4846320"/>
            <a:ext cx="374904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20" name="Text 18"/>
          <p:cNvSpPr txBox="1"/>
          <p:nvPr/>
        </p:nvSpPr>
        <p:spPr>
          <a:xfrm>
            <a:off x="7589520" y="5486400"/>
            <a:ext cx="3749040" cy="365760"/>
          </a:xfrm>
          <a:prstGeom prst="rect">
            <a:avLst/>
          </a:prstGeom>
          <a:noFill/>
          <a:ln/>
        </p:spPr>
        <p:txBody>
          <a:bodyPr wrap="square" lIns="0" tIns="0" rIns="0" bIns="0" rtlCol="0" anchor="t"/>
          <a:lstStyle/>
          <a:p>
            <a:pPr indent="0" marL="0">
              <a:buNone/>
            </a:pPr>
            <a:r>
              <a:rPr lang="en-US" sz="1400" dirty="0">
                <a:solidFill>
                  <a:schemeClr val="tx2"/>
                </a:solidFill>
              </a:rPr>
              <a:t>double-bookings in a 10-thread race test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Why appointment booking breaks</a:t>
            </a:r>
            <a:endParaRPr lang="en-US" sz="3400" dirty="0"/>
          </a:p>
        </p:txBody>
      </p:sp>
      <p:sp>
        <p:nvSpPr>
          <p:cNvPr id="3" name="Shape 1"/>
          <p:cNvSpPr/>
          <p:nvPr/>
        </p:nvSpPr>
        <p:spPr>
          <a:xfrm>
            <a:off x="548640" y="1554480"/>
            <a:ext cx="2606040" cy="4206240"/>
          </a:xfrm>
          <a:prstGeom prst="roundRect">
            <a:avLst>
              <a:gd name="adj" fmla="val 3509"/>
            </a:avLst>
          </a:prstGeom>
          <a:solidFill>
            <a:schemeClr val="bg2"/>
          </a:solidFill>
          <a:ln/>
        </p:spPr>
      </p:sp>
      <p:sp>
        <p:nvSpPr>
          <p:cNvPr id="4" name="Text 2"/>
          <p:cNvSpPr txBox="1"/>
          <p:nvPr/>
        </p:nvSpPr>
        <p:spPr>
          <a:xfrm>
            <a:off x="777240" y="1783080"/>
            <a:ext cx="2194560" cy="822960"/>
          </a:xfrm>
          <a:prstGeom prst="rect">
            <a:avLst/>
          </a:prstGeom>
          <a:noFill/>
          <a:ln/>
        </p:spPr>
        <p:txBody>
          <a:bodyPr wrap="square" lIns="0" tIns="0" rIns="0" bIns="0" rtlCol="0" anchor="t"/>
          <a:lstStyle/>
          <a:p>
            <a:pPr indent="0" marL="0">
              <a:buNone/>
            </a:pPr>
            <a:r>
              <a:rPr lang="en-US" sz="3800" b="1" dirty="0">
                <a:solidFill>
                  <a:schemeClr val="accent4"/>
                </a:solidFill>
                <a:latin typeface="Cambria" pitchFamily="34" charset="0"/>
                <a:ea typeface="Cambria" pitchFamily="34" charset="-122"/>
                <a:cs typeface="Cambria" pitchFamily="34" charset="-120"/>
              </a:rPr>
              <a:t>2 → 1</a:t>
            </a:r>
            <a:endParaRPr lang="en-US" sz="3800" dirty="0"/>
          </a:p>
        </p:txBody>
      </p:sp>
      <p:sp>
        <p:nvSpPr>
          <p:cNvPr id="5" name="Text 3"/>
          <p:cNvSpPr txBox="1"/>
          <p:nvPr/>
        </p:nvSpPr>
        <p:spPr>
          <a:xfrm>
            <a:off x="777240" y="2788920"/>
            <a:ext cx="21945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Double booking</a:t>
            </a:r>
            <a:endParaRPr lang="en-US" sz="1800" dirty="0"/>
          </a:p>
        </p:txBody>
      </p:sp>
      <p:sp>
        <p:nvSpPr>
          <p:cNvPr id="6" name="Text 4"/>
          <p:cNvSpPr txBox="1"/>
          <p:nvPr/>
        </p:nvSpPr>
        <p:spPr>
          <a:xfrm>
            <a:off x="777240" y="3291840"/>
            <a:ext cx="2194560" cy="2286000"/>
          </a:xfrm>
          <a:prstGeom prst="rect">
            <a:avLst/>
          </a:prstGeom>
          <a:noFill/>
          <a:ln/>
        </p:spPr>
        <p:txBody>
          <a:bodyPr wrap="square" lIns="0" tIns="0" rIns="0" bIns="0" rtlCol="0" anchor="t"/>
          <a:lstStyle/>
          <a:p>
            <a:pPr indent="0" marL="0">
              <a:buNone/>
            </a:pPr>
            <a:r>
              <a:rPr lang="en-US" sz="1400" dirty="0">
                <a:solidFill>
                  <a:schemeClr val="tx2"/>
                </a:solidFill>
              </a:rPr>
              <a:t>Two patients grab the same slot at the same moment because check-then-write logic races.</a:t>
            </a:r>
            <a:endParaRPr lang="en-US" sz="1400" dirty="0"/>
          </a:p>
        </p:txBody>
      </p:sp>
      <p:sp>
        <p:nvSpPr>
          <p:cNvPr id="7" name="Shape 5"/>
          <p:cNvSpPr/>
          <p:nvPr/>
        </p:nvSpPr>
        <p:spPr>
          <a:xfrm>
            <a:off x="3374136" y="1554480"/>
            <a:ext cx="2606040" cy="4206240"/>
          </a:xfrm>
          <a:prstGeom prst="roundRect">
            <a:avLst>
              <a:gd name="adj" fmla="val 3509"/>
            </a:avLst>
          </a:prstGeom>
          <a:solidFill>
            <a:schemeClr val="bg2"/>
          </a:solidFill>
          <a:ln/>
        </p:spPr>
      </p:sp>
      <p:sp>
        <p:nvSpPr>
          <p:cNvPr id="8" name="Text 6"/>
          <p:cNvSpPr txBox="1"/>
          <p:nvPr/>
        </p:nvSpPr>
        <p:spPr>
          <a:xfrm>
            <a:off x="3602736" y="1783080"/>
            <a:ext cx="2194560" cy="822960"/>
          </a:xfrm>
          <a:prstGeom prst="rect">
            <a:avLst/>
          </a:prstGeom>
          <a:noFill/>
          <a:ln/>
        </p:spPr>
        <p:txBody>
          <a:bodyPr wrap="square" lIns="0" tIns="0" rIns="0" bIns="0" rtlCol="0" anchor="t"/>
          <a:lstStyle/>
          <a:p>
            <a:pPr indent="0" marL="0">
              <a:buNone/>
            </a:pPr>
            <a:r>
              <a:rPr lang="en-US" sz="3800" b="1" dirty="0">
                <a:solidFill>
                  <a:schemeClr val="accent3"/>
                </a:solidFill>
                <a:latin typeface="Cambria" pitchFamily="34" charset="0"/>
                <a:ea typeface="Cambria" pitchFamily="34" charset="-122"/>
                <a:cs typeface="Cambria" pitchFamily="34" charset="-120"/>
              </a:rPr>
              <a:t>?</a:t>
            </a:r>
            <a:endParaRPr lang="en-US" sz="3800" dirty="0"/>
          </a:p>
        </p:txBody>
      </p:sp>
      <p:sp>
        <p:nvSpPr>
          <p:cNvPr id="9" name="Text 7"/>
          <p:cNvSpPr txBox="1"/>
          <p:nvPr/>
        </p:nvSpPr>
        <p:spPr>
          <a:xfrm>
            <a:off x="3602736" y="2788920"/>
            <a:ext cx="21945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Unverified doctors</a:t>
            </a:r>
            <a:endParaRPr lang="en-US" sz="1800" dirty="0"/>
          </a:p>
        </p:txBody>
      </p:sp>
      <p:sp>
        <p:nvSpPr>
          <p:cNvPr id="10" name="Text 8"/>
          <p:cNvSpPr txBox="1"/>
          <p:nvPr/>
        </p:nvSpPr>
        <p:spPr>
          <a:xfrm>
            <a:off x="3602736" y="3291840"/>
            <a:ext cx="2194560" cy="2286000"/>
          </a:xfrm>
          <a:prstGeom prst="rect">
            <a:avLst/>
          </a:prstGeom>
          <a:noFill/>
          <a:ln/>
        </p:spPr>
        <p:txBody>
          <a:bodyPr wrap="square" lIns="0" tIns="0" rIns="0" bIns="0" rtlCol="0" anchor="t"/>
          <a:lstStyle/>
          <a:p>
            <a:pPr indent="0" marL="0">
              <a:buNone/>
            </a:pPr>
            <a:r>
              <a:rPr lang="en-US" sz="1400" dirty="0">
                <a:solidFill>
                  <a:schemeClr val="tx2"/>
                </a:solidFill>
              </a:rPr>
              <a:t>Anyone can list as a practitioner, so patients cannot trust who they are booking.</a:t>
            </a:r>
            <a:endParaRPr lang="en-US" sz="1400" dirty="0"/>
          </a:p>
        </p:txBody>
      </p:sp>
      <p:sp>
        <p:nvSpPr>
          <p:cNvPr id="11" name="Shape 9"/>
          <p:cNvSpPr/>
          <p:nvPr/>
        </p:nvSpPr>
        <p:spPr>
          <a:xfrm>
            <a:off x="6199632" y="1554480"/>
            <a:ext cx="2606040" cy="4206240"/>
          </a:xfrm>
          <a:prstGeom prst="roundRect">
            <a:avLst>
              <a:gd name="adj" fmla="val 3509"/>
            </a:avLst>
          </a:prstGeom>
          <a:solidFill>
            <a:schemeClr val="bg2"/>
          </a:solidFill>
          <a:ln/>
        </p:spPr>
      </p:sp>
      <p:sp>
        <p:nvSpPr>
          <p:cNvPr id="12" name="Text 10"/>
          <p:cNvSpPr txBox="1"/>
          <p:nvPr/>
        </p:nvSpPr>
        <p:spPr>
          <a:xfrm>
            <a:off x="6428232" y="1783080"/>
            <a:ext cx="2194560" cy="82296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25%+</a:t>
            </a:r>
            <a:endParaRPr lang="en-US" sz="3800" dirty="0"/>
          </a:p>
        </p:txBody>
      </p:sp>
      <p:sp>
        <p:nvSpPr>
          <p:cNvPr id="13" name="Text 11"/>
          <p:cNvSpPr txBox="1"/>
          <p:nvPr/>
        </p:nvSpPr>
        <p:spPr>
          <a:xfrm>
            <a:off x="6428232" y="2788920"/>
            <a:ext cx="21945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No-shows</a:t>
            </a:r>
            <a:endParaRPr lang="en-US" sz="1800" dirty="0"/>
          </a:p>
        </p:txBody>
      </p:sp>
      <p:sp>
        <p:nvSpPr>
          <p:cNvPr id="14" name="Text 12"/>
          <p:cNvSpPr txBox="1"/>
          <p:nvPr/>
        </p:nvSpPr>
        <p:spPr>
          <a:xfrm>
            <a:off x="6428232" y="3291840"/>
            <a:ext cx="2194560" cy="2286000"/>
          </a:xfrm>
          <a:prstGeom prst="rect">
            <a:avLst/>
          </a:prstGeom>
          <a:noFill/>
          <a:ln/>
        </p:spPr>
        <p:txBody>
          <a:bodyPr wrap="square" lIns="0" tIns="0" rIns="0" bIns="0" rtlCol="0" anchor="t"/>
          <a:lstStyle/>
          <a:p>
            <a:pPr indent="0" marL="0">
              <a:buNone/>
            </a:pPr>
            <a:r>
              <a:rPr lang="en-US" sz="1400" dirty="0">
                <a:solidFill>
                  <a:schemeClr val="tx2"/>
                </a:solidFill>
              </a:rPr>
              <a:t>Missed appointments waste capacity because reminders and urgency are not managed.</a:t>
            </a:r>
            <a:endParaRPr lang="en-US" sz="1400" dirty="0"/>
          </a:p>
        </p:txBody>
      </p:sp>
      <p:sp>
        <p:nvSpPr>
          <p:cNvPr id="15" name="Shape 13"/>
          <p:cNvSpPr/>
          <p:nvPr/>
        </p:nvSpPr>
        <p:spPr>
          <a:xfrm>
            <a:off x="9025128" y="1554480"/>
            <a:ext cx="2606040" cy="4206240"/>
          </a:xfrm>
          <a:prstGeom prst="roundRect">
            <a:avLst>
              <a:gd name="adj" fmla="val 3509"/>
            </a:avLst>
          </a:prstGeom>
          <a:solidFill>
            <a:schemeClr val="bg2"/>
          </a:solidFill>
          <a:ln/>
        </p:spPr>
      </p:sp>
      <p:sp>
        <p:nvSpPr>
          <p:cNvPr id="16" name="Text 14"/>
          <p:cNvSpPr txBox="1"/>
          <p:nvPr/>
        </p:nvSpPr>
        <p:spPr>
          <a:xfrm>
            <a:off x="9253728" y="1783080"/>
            <a:ext cx="2194560" cy="822960"/>
          </a:xfrm>
          <a:prstGeom prst="rect">
            <a:avLst/>
          </a:prstGeom>
          <a:noFill/>
          <a:ln/>
        </p:spPr>
        <p:txBody>
          <a:bodyPr wrap="square" lIns="0" tIns="0" rIns="0" bIns="0" rtlCol="0" anchor="t"/>
          <a:lstStyle/>
          <a:p>
            <a:pPr indent="0" marL="0">
              <a:buNone/>
            </a:pPr>
            <a:r>
              <a:rPr lang="en-US" sz="3800" b="1" dirty="0">
                <a:solidFill>
                  <a:schemeClr val="accent6"/>
                </a:solidFill>
                <a:latin typeface="Cambria" pitchFamily="34" charset="0"/>
                <a:ea typeface="Cambria" pitchFamily="34" charset="-122"/>
                <a:cs typeface="Cambria" pitchFamily="34" charset="-120"/>
              </a:rPr>
              <a:t>₹ ?</a:t>
            </a:r>
            <a:endParaRPr lang="en-US" sz="3800" dirty="0"/>
          </a:p>
        </p:txBody>
      </p:sp>
      <p:sp>
        <p:nvSpPr>
          <p:cNvPr id="17" name="Text 15"/>
          <p:cNvSpPr txBox="1"/>
          <p:nvPr/>
        </p:nvSpPr>
        <p:spPr>
          <a:xfrm>
            <a:off x="9253728" y="2788920"/>
            <a:ext cx="21945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Financial blind spot</a:t>
            </a:r>
            <a:endParaRPr lang="en-US" sz="1800" dirty="0"/>
          </a:p>
        </p:txBody>
      </p:sp>
      <p:sp>
        <p:nvSpPr>
          <p:cNvPr id="18" name="Text 16"/>
          <p:cNvSpPr txBox="1"/>
          <p:nvPr/>
        </p:nvSpPr>
        <p:spPr>
          <a:xfrm>
            <a:off x="9253728" y="3291840"/>
            <a:ext cx="2194560" cy="2286000"/>
          </a:xfrm>
          <a:prstGeom prst="rect">
            <a:avLst/>
          </a:prstGeom>
          <a:noFill/>
          <a:ln/>
        </p:spPr>
        <p:txBody>
          <a:bodyPr wrap="square" lIns="0" tIns="0" rIns="0" bIns="0" rtlCol="0" anchor="t"/>
          <a:lstStyle/>
          <a:p>
            <a:pPr indent="0" marL="0">
              <a:buNone/>
            </a:pPr>
            <a:r>
              <a:rPr lang="en-US" sz="1400" dirty="0">
                <a:solidFill>
                  <a:schemeClr val="tx2"/>
                </a:solidFill>
              </a:rPr>
              <a:t>Doctors lack a live view of realized and projected consultation revenue.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Three roles, strict privilege isolation</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5577840"/>
                <a:gridCol w="1828800"/>
                <a:gridCol w="1828800"/>
                <a:gridCol w="1828800"/>
              </a:tblGrid>
              <a:tr h="457200">
                <a:tc>
                  <a:txBody>
                    <a:bodyPr/>
                    <a:lstStyle/>
                    <a:p>
                      <a:pPr algn="l" indent="0" marL="0">
                        <a:buNone/>
                      </a:pPr>
                      <a:r>
                        <a:rPr lang="en-US" sz="1400" b="1" dirty="0">
                          <a:solidFill>
                            <a:schemeClr val="bg1"/>
                          </a:solidFill>
                        </a:rPr>
                        <a:t>Capability</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Patient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Doctor</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Admin</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tx1"/>
                          </a:solidFill>
                        </a:rPr>
                        <a:t>Browse verified doctors and book slots</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chemeClr val="tx1"/>
                          </a:solidFill>
                        </a:rPr>
                        <a:t>Reschedule or cancel own appointments</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chemeClr val="tx1"/>
                          </a:solidFill>
                        </a:rPr>
                        <a:t>Manage availability and consultation fee</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chemeClr val="tx1"/>
                          </a:solidFill>
                        </a:rPr>
                        <a:t>View practice and revenue dashboard</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chemeClr val="tx1"/>
                          </a:solidFill>
                        </a:rPr>
                        <a:t>Update clinical status of appointments</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chemeClr val="tx1"/>
                          </a:solidFill>
                        </a:rPr>
                        <a:t>Verify doctors and moderate users</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chemeClr val="tx1"/>
                          </a:solidFill>
                        </a:rPr>
                        <a:t>Review the security audit log</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5"/>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ctr" indent="0" marL="0">
                        <a:buNone/>
                      </a:pPr>
                      <a:r>
                        <a:rPr lang="en-US" sz="1400" b="1" dirty="0">
                          <a:solidFill>
                            <a:schemeClr val="accent2"/>
                          </a:solidFill>
                        </a:rPr>
                        <a:t>✓</a:t>
                      </a:r>
                      <a:endParaRPr lang="en-US" sz="1400" dirty="0"/>
                    </a:p>
                  </a:txBody>
                  <a:tcPr marL="91440" marR="91440" marT="45720" marB="4572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bl>
          </a:graphicData>
        </a:graphic>
      </p:graphicFrame>
      <p:sp>
        <p:nvSpPr>
          <p:cNvPr id="4" name="Text 1"/>
          <p:cNvSpPr txBox="1"/>
          <p:nvPr/>
        </p:nvSpPr>
        <p:spPr>
          <a:xfrm>
            <a:off x="548640" y="5440680"/>
            <a:ext cx="11064240" cy="640080"/>
          </a:xfrm>
          <a:prstGeom prst="roundRect">
            <a:avLst>
              <a:gd name="adj" fmla="val 11429"/>
            </a:avLst>
          </a:prstGeom>
          <a:solidFill>
            <a:schemeClr val="accent1">
              <a:alpha val="12000"/>
            </a:schemeClr>
          </a:solidFill>
          <a:ln/>
        </p:spPr>
        <p:txBody>
          <a:bodyPr wrap="square" lIns="762" tIns="762" rIns="762" bIns="762" rtlCol="0" anchor="ctr"/>
          <a:lstStyle/>
          <a:p>
            <a:pPr algn="ctr" indent="0" marL="0">
              <a:buNone/>
            </a:pPr>
            <a:r>
              <a:rPr lang="en-US" sz="1500" b="1" dirty="0">
                <a:solidFill>
                  <a:schemeClr val="accent1"/>
                </a:solidFill>
              </a:rPr>
              <a:t>Any request outside a role's privileges is rejected with HTTP 403 before it reaches a controller.</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Decoupled three-tier architecture</a:t>
            </a:r>
            <a:endParaRPr lang="en-US" sz="3400" dirty="0"/>
          </a:p>
        </p:txBody>
      </p:sp>
      <p:sp>
        <p:nvSpPr>
          <p:cNvPr id="3" name="Text 1"/>
          <p:cNvSpPr txBox="1"/>
          <p:nvPr/>
        </p:nvSpPr>
        <p:spPr>
          <a:xfrm>
            <a:off x="548640" y="2194560"/>
            <a:ext cx="2377440" cy="2194560"/>
          </a:xfrm>
          <a:prstGeom prst="roundRect">
            <a:avLst>
              <a:gd name="adj" fmla="val 3333"/>
            </a:avLst>
          </a:prstGeom>
          <a:solidFill>
            <a:schemeClr val="accent1"/>
          </a:solidFill>
          <a:ln/>
        </p:spPr>
        <p:txBody>
          <a:bodyPr wrap="square" lIns="762" tIns="762" rIns="762" bIns="762" rtlCol="0" anchor="ctr"/>
          <a:lstStyle/>
          <a:p>
            <a:pPr algn="ctr" indent="0" marL="0">
              <a:buNone/>
            </a:pPr>
            <a:r>
              <a:rPr lang="en-US" sz="1700" b="1" dirty="0">
                <a:solidFill>
                  <a:schemeClr val="bg1"/>
                </a:solidFill>
              </a:rPr>
              <a:t>Client</a:t>
            </a:r>
            <a:endParaRPr lang="en-US" sz="1400" dirty="0"/>
          </a:p>
          <a:p>
            <a:pPr algn="ctr" indent="0" marL="0">
              <a:buNone/>
            </a:pPr>
            <a:r>
              <a:rPr lang="en-US" sz="1400" dirty="0">
                <a:solidFill>
                  <a:schemeClr val="bg1"/>
                </a:solidFill>
              </a:rPr>
              <a:t>React 19 SPA · Vite</a:t>
            </a:r>
            <a:endParaRPr lang="en-US" sz="1400" dirty="0"/>
          </a:p>
          <a:p>
            <a:pPr algn="ctr" indent="0" marL="0">
              <a:buNone/>
            </a:pPr>
            <a:r>
              <a:rPr lang="en-US" sz="1400" dirty="0">
                <a:solidFill>
                  <a:schemeClr val="bg1"/>
                </a:solidFill>
              </a:rPr>
              <a:t>Role-based routes</a:t>
            </a:r>
            <a:endParaRPr lang="en-US" sz="1400" dirty="0"/>
          </a:p>
          <a:p>
            <a:pPr algn="ctr" indent="0" marL="0">
              <a:buNone/>
            </a:pPr>
            <a:r>
              <a:rPr lang="en-US" sz="1400" dirty="0">
                <a:solidFill>
                  <a:schemeClr val="bg1"/>
                </a:solidFill>
              </a:rPr>
              <a:t>Axios + JWT</a:t>
            </a:r>
            <a:endParaRPr lang="en-US" sz="1400" dirty="0"/>
          </a:p>
        </p:txBody>
      </p:sp>
      <p:sp>
        <p:nvSpPr>
          <p:cNvPr id="4" name="Text 2"/>
          <p:cNvSpPr txBox="1"/>
          <p:nvPr/>
        </p:nvSpPr>
        <p:spPr>
          <a:xfrm>
            <a:off x="2971800" y="2743200"/>
            <a:ext cx="777240" cy="365760"/>
          </a:xfrm>
          <a:prstGeom prst="rect">
            <a:avLst/>
          </a:prstGeom>
          <a:noFill/>
          <a:ln/>
        </p:spPr>
        <p:txBody>
          <a:bodyPr wrap="square" lIns="0" tIns="0" rIns="0" bIns="0" rtlCol="0" anchor="t"/>
          <a:lstStyle/>
          <a:p>
            <a:pPr algn="ctr" indent="0" marL="0">
              <a:buNone/>
            </a:pPr>
            <a:r>
              <a:rPr lang="en-US" sz="1100" dirty="0">
                <a:solidFill>
                  <a:schemeClr val="accent5"/>
                </a:solidFill>
              </a:rPr>
              <a:t>HTTPS · JSON</a:t>
            </a:r>
            <a:endParaRPr lang="en-US" sz="1100" dirty="0"/>
          </a:p>
        </p:txBody>
      </p:sp>
      <p:sp>
        <p:nvSpPr>
          <p:cNvPr id="5" name="Shape 3"/>
          <p:cNvSpPr/>
          <p:nvPr/>
        </p:nvSpPr>
        <p:spPr>
          <a:xfrm>
            <a:off x="2971800" y="3291840"/>
            <a:ext cx="777240" cy="0"/>
          </a:xfrm>
          <a:prstGeom prst="line">
            <a:avLst/>
          </a:prstGeom>
          <a:noFill/>
          <a:ln w="25400">
            <a:solidFill>
              <a:schemeClr val="accent5"/>
            </a:solidFill>
            <a:prstDash val="solid"/>
            <a:tailEnd type="triangle"/>
          </a:ln>
        </p:spPr>
      </p:sp>
      <p:sp>
        <p:nvSpPr>
          <p:cNvPr id="6" name="Shape 4"/>
          <p:cNvSpPr/>
          <p:nvPr/>
        </p:nvSpPr>
        <p:spPr>
          <a:xfrm>
            <a:off x="3749040" y="1463040"/>
            <a:ext cx="3657600" cy="4480560"/>
          </a:xfrm>
          <a:prstGeom prst="roundRect">
            <a:avLst>
              <a:gd name="adj" fmla="val 2500"/>
            </a:avLst>
          </a:prstGeom>
          <a:solidFill>
            <a:schemeClr val="bg2"/>
          </a:solidFill>
          <a:ln w="12700">
            <a:solidFill>
              <a:schemeClr val="accent5"/>
            </a:solidFill>
            <a:prstDash val="solid"/>
          </a:ln>
        </p:spPr>
      </p:sp>
      <p:sp>
        <p:nvSpPr>
          <p:cNvPr id="7" name="Text 5"/>
          <p:cNvSpPr txBox="1"/>
          <p:nvPr/>
        </p:nvSpPr>
        <p:spPr>
          <a:xfrm>
            <a:off x="3931920" y="1600200"/>
            <a:ext cx="329184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Express 5 API · MVC</a:t>
            </a:r>
            <a:endParaRPr lang="en-US" sz="1700" dirty="0"/>
          </a:p>
        </p:txBody>
      </p:sp>
      <p:sp>
        <p:nvSpPr>
          <p:cNvPr id="8" name="Text 6"/>
          <p:cNvSpPr txBox="1"/>
          <p:nvPr/>
        </p:nvSpPr>
        <p:spPr>
          <a:xfrm>
            <a:off x="3931920" y="2148840"/>
            <a:ext cx="3291840" cy="685800"/>
          </a:xfrm>
          <a:prstGeom prst="roundRect">
            <a:avLst>
              <a:gd name="adj" fmla="val 10667"/>
            </a:avLst>
          </a:prstGeom>
          <a:solidFill>
            <a:schemeClr val="bg1"/>
          </a:solidFill>
          <a:ln w="15875">
            <a:solidFill>
              <a:schemeClr val="accent5"/>
            </a:solidFill>
          </a:ln>
        </p:spPr>
        <p:txBody>
          <a:bodyPr wrap="square" lIns="762" tIns="762" rIns="762" bIns="762" rtlCol="0" anchor="ctr"/>
          <a:lstStyle/>
          <a:p>
            <a:pPr algn="ctr" indent="0" marL="0">
              <a:buNone/>
            </a:pPr>
            <a:r>
              <a:rPr lang="en-US" sz="1400" dirty="0">
                <a:solidFill>
                  <a:schemeClr val="tx1"/>
                </a:solidFill>
              </a:rPr>
              <a:t>Helmet · CORS · rate limiter</a:t>
            </a:r>
            <a:endParaRPr lang="en-US" sz="1400" dirty="0"/>
          </a:p>
        </p:txBody>
      </p:sp>
      <p:sp>
        <p:nvSpPr>
          <p:cNvPr id="9" name="Text 7"/>
          <p:cNvSpPr txBox="1"/>
          <p:nvPr/>
        </p:nvSpPr>
        <p:spPr>
          <a:xfrm>
            <a:off x="3931920" y="3063240"/>
            <a:ext cx="3291840" cy="685800"/>
          </a:xfrm>
          <a:prstGeom prst="roundRect">
            <a:avLst>
              <a:gd name="adj" fmla="val 10667"/>
            </a:avLst>
          </a:prstGeom>
          <a:solidFill>
            <a:schemeClr val="bg1"/>
          </a:solidFill>
          <a:ln w="15875">
            <a:solidFill>
              <a:schemeClr val="accent5"/>
            </a:solidFill>
          </a:ln>
        </p:spPr>
        <p:txBody>
          <a:bodyPr wrap="square" lIns="762" tIns="762" rIns="762" bIns="762" rtlCol="0" anchor="ctr"/>
          <a:lstStyle/>
          <a:p>
            <a:pPr algn="ctr" indent="0" marL="0">
              <a:buNone/>
            </a:pPr>
            <a:r>
              <a:rPr lang="en-US" sz="1400" dirty="0">
                <a:solidFill>
                  <a:schemeClr val="tx1"/>
                </a:solidFill>
              </a:rPr>
              <a:t>Joi request validation</a:t>
            </a:r>
            <a:endParaRPr lang="en-US" sz="1400" dirty="0"/>
          </a:p>
        </p:txBody>
      </p:sp>
      <p:sp>
        <p:nvSpPr>
          <p:cNvPr id="10" name="Text 8"/>
          <p:cNvSpPr txBox="1"/>
          <p:nvPr/>
        </p:nvSpPr>
        <p:spPr>
          <a:xfrm>
            <a:off x="3931920" y="3977640"/>
            <a:ext cx="3291840" cy="685800"/>
          </a:xfrm>
          <a:prstGeom prst="roundRect">
            <a:avLst>
              <a:gd name="adj" fmla="val 10667"/>
            </a:avLst>
          </a:prstGeom>
          <a:solidFill>
            <a:schemeClr val="bg1"/>
          </a:solidFill>
          <a:ln w="15875">
            <a:solidFill>
              <a:schemeClr val="accent5"/>
            </a:solidFill>
          </a:ln>
        </p:spPr>
        <p:txBody>
          <a:bodyPr wrap="square" lIns="762" tIns="762" rIns="762" bIns="762" rtlCol="0" anchor="ctr"/>
          <a:lstStyle/>
          <a:p>
            <a:pPr algn="ctr" indent="0" marL="0">
              <a:buNone/>
            </a:pPr>
            <a:r>
              <a:rPr lang="en-US" sz="1400" dirty="0">
                <a:solidFill>
                  <a:schemeClr val="tx1"/>
                </a:solidFill>
              </a:rPr>
              <a:t>JWT auth + RBAC check</a:t>
            </a:r>
            <a:endParaRPr lang="en-US" sz="1400" dirty="0"/>
          </a:p>
        </p:txBody>
      </p:sp>
      <p:sp>
        <p:nvSpPr>
          <p:cNvPr id="11" name="Text 9"/>
          <p:cNvSpPr txBox="1"/>
          <p:nvPr/>
        </p:nvSpPr>
        <p:spPr>
          <a:xfrm>
            <a:off x="3931920" y="4892040"/>
            <a:ext cx="3291840" cy="685800"/>
          </a:xfrm>
          <a:prstGeom prst="roundRect">
            <a:avLst>
              <a:gd name="adj" fmla="val 10667"/>
            </a:avLst>
          </a:prstGeom>
          <a:solidFill>
            <a:schemeClr val="accent6"/>
          </a:solidFill>
          <a:ln/>
        </p:spPr>
        <p:txBody>
          <a:bodyPr wrap="square" lIns="762" tIns="762" rIns="762" bIns="762" rtlCol="0" anchor="ctr"/>
          <a:lstStyle/>
          <a:p>
            <a:pPr algn="ctr" indent="0" marL="0">
              <a:buNone/>
            </a:pPr>
            <a:r>
              <a:rPr lang="en-US" sz="1400" dirty="0">
                <a:solidFill>
                  <a:schemeClr val="bg1"/>
                </a:solidFill>
              </a:rPr>
              <a:t>Controllers → Services</a:t>
            </a:r>
            <a:endParaRPr lang="en-US" sz="1400" dirty="0"/>
          </a:p>
        </p:txBody>
      </p:sp>
      <p:sp>
        <p:nvSpPr>
          <p:cNvPr id="12" name="Shape 10"/>
          <p:cNvSpPr/>
          <p:nvPr/>
        </p:nvSpPr>
        <p:spPr>
          <a:xfrm>
            <a:off x="7406640" y="2651760"/>
            <a:ext cx="914400" cy="0"/>
          </a:xfrm>
          <a:prstGeom prst="line">
            <a:avLst/>
          </a:prstGeom>
          <a:noFill/>
          <a:ln w="25400">
            <a:solidFill>
              <a:schemeClr val="accent5"/>
            </a:solidFill>
            <a:prstDash val="solid"/>
            <a:tailEnd type="triangle"/>
          </a:ln>
        </p:spPr>
      </p:sp>
      <p:sp>
        <p:nvSpPr>
          <p:cNvPr id="13" name="Shape 11"/>
          <p:cNvSpPr/>
          <p:nvPr/>
        </p:nvSpPr>
        <p:spPr>
          <a:xfrm>
            <a:off x="7406640" y="4663440"/>
            <a:ext cx="914400" cy="0"/>
          </a:xfrm>
          <a:prstGeom prst="line">
            <a:avLst/>
          </a:prstGeom>
          <a:noFill/>
          <a:ln w="25400">
            <a:solidFill>
              <a:schemeClr val="accent5"/>
            </a:solidFill>
            <a:prstDash val="solid"/>
            <a:tailEnd type="triangle"/>
          </a:ln>
        </p:spPr>
      </p:sp>
      <p:sp>
        <p:nvSpPr>
          <p:cNvPr id="14" name="Text 12"/>
          <p:cNvSpPr txBox="1"/>
          <p:nvPr/>
        </p:nvSpPr>
        <p:spPr>
          <a:xfrm>
            <a:off x="8321040" y="1463040"/>
            <a:ext cx="3291840" cy="2194560"/>
          </a:xfrm>
          <a:prstGeom prst="roundRect">
            <a:avLst>
              <a:gd name="adj" fmla="val 3333"/>
            </a:avLst>
          </a:prstGeom>
          <a:solidFill>
            <a:schemeClr val="tx1"/>
          </a:solidFill>
          <a:ln/>
        </p:spPr>
        <p:txBody>
          <a:bodyPr wrap="square" lIns="762" tIns="762" rIns="762" bIns="762" rtlCol="0" anchor="ctr"/>
          <a:lstStyle/>
          <a:p>
            <a:pPr algn="ctr" indent="0" marL="0">
              <a:buNone/>
            </a:pPr>
            <a:r>
              <a:rPr lang="en-US" sz="1700" b="1" dirty="0">
                <a:solidFill>
                  <a:schemeClr val="bg1"/>
                </a:solidFill>
              </a:rPr>
              <a:t>MongoDB + Mongoose</a:t>
            </a:r>
            <a:endParaRPr lang="en-US" sz="1400" dirty="0"/>
          </a:p>
          <a:p>
            <a:pPr algn="ctr" indent="0" marL="0">
              <a:buNone/>
            </a:pPr>
            <a:r>
              <a:rPr lang="en-US" sz="1400" dirty="0">
                <a:solidFill>
                  <a:schemeClr val="bg1"/>
                </a:solidFill>
              </a:rPr>
              <a:t>users · doctors · slots</a:t>
            </a:r>
            <a:endParaRPr lang="en-US" sz="1400" dirty="0"/>
          </a:p>
          <a:p>
            <a:pPr algn="ctr" indent="0" marL="0">
              <a:buNone/>
            </a:pPr>
            <a:r>
              <a:rPr lang="en-US" sz="1400" dirty="0">
                <a:solidFill>
                  <a:schemeClr val="bg1"/>
                </a:solidFill>
              </a:rPr>
              <a:t>appointments · audit logs</a:t>
            </a:r>
            <a:endParaRPr lang="en-US" sz="1400" dirty="0"/>
          </a:p>
        </p:txBody>
      </p:sp>
      <p:sp>
        <p:nvSpPr>
          <p:cNvPr id="15" name="Text 13"/>
          <p:cNvSpPr txBox="1"/>
          <p:nvPr/>
        </p:nvSpPr>
        <p:spPr>
          <a:xfrm>
            <a:off x="8321040" y="3749040"/>
            <a:ext cx="3291840" cy="2194560"/>
          </a:xfrm>
          <a:prstGeom prst="roundRect">
            <a:avLst>
              <a:gd name="adj" fmla="val 3333"/>
            </a:avLst>
          </a:prstGeom>
          <a:solidFill>
            <a:schemeClr val="accent2"/>
          </a:solidFill>
          <a:ln/>
        </p:spPr>
        <p:txBody>
          <a:bodyPr wrap="square" lIns="762" tIns="762" rIns="762" bIns="762" rtlCol="0" anchor="ctr"/>
          <a:lstStyle/>
          <a:p>
            <a:pPr algn="ctr" indent="0" marL="0">
              <a:buNone/>
            </a:pPr>
            <a:r>
              <a:rPr lang="en-US" sz="1700" b="1" dirty="0">
                <a:solidFill>
                  <a:schemeClr val="tx1"/>
                </a:solidFill>
              </a:rPr>
              <a:t>Python FastAPI</a:t>
            </a:r>
            <a:endParaRPr lang="en-US" sz="1400" dirty="0"/>
          </a:p>
          <a:p>
            <a:pPr algn="ctr" indent="0" marL="0">
              <a:buNone/>
            </a:pPr>
            <a:r>
              <a:rPr lang="en-US" sz="1400" dirty="0">
                <a:solidFill>
                  <a:schemeClr val="tx1"/>
                </a:solidFill>
              </a:rPr>
              <a:t>Triage scoring</a:t>
            </a:r>
            <a:endParaRPr lang="en-US" sz="1400" dirty="0"/>
          </a:p>
          <a:p>
            <a:pPr algn="ctr" indent="0" marL="0">
              <a:buNone/>
            </a:pPr>
            <a:r>
              <a:rPr lang="en-US" sz="1400" dirty="0">
                <a:solidFill>
                  <a:schemeClr val="tx1"/>
                </a:solidFill>
              </a:rPr>
              <a:t>Wait-time forecast</a:t>
            </a:r>
            <a:endParaRPr lang="en-US" sz="1400" dirty="0"/>
          </a:p>
          <a:p>
            <a:pPr algn="ctr" indent="0" marL="0">
              <a:buNone/>
            </a:pPr>
            <a:r>
              <a:rPr lang="en-US" sz="1400" dirty="0">
                <a:solidFill>
                  <a:schemeClr val="tx1"/>
                </a:solidFill>
              </a:rPr>
              <a:t>Reminder dispatcher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Atomic booking: one winner, no race</a:t>
            </a:r>
            <a:endParaRPr lang="en-US" sz="3400" dirty="0"/>
          </a:p>
        </p:txBody>
      </p:sp>
      <p:sp>
        <p:nvSpPr>
          <p:cNvPr id="3" name="Text 1"/>
          <p:cNvSpPr txBox="1"/>
          <p:nvPr/>
        </p:nvSpPr>
        <p:spPr>
          <a:xfrm>
            <a:off x="548640" y="1554480"/>
            <a:ext cx="2011680" cy="1005840"/>
          </a:xfrm>
          <a:prstGeom prst="roundRect">
            <a:avLst>
              <a:gd name="adj" fmla="val 7273"/>
            </a:avLst>
          </a:prstGeom>
          <a:solidFill>
            <a:schemeClr val="accent1"/>
          </a:solidFill>
          <a:ln/>
        </p:spPr>
        <p:txBody>
          <a:bodyPr wrap="square" lIns="762" tIns="762" rIns="762" bIns="762" rtlCol="0" anchor="ctr"/>
          <a:lstStyle/>
          <a:p>
            <a:pPr algn="ctr" indent="0" marL="0">
              <a:buNone/>
            </a:pPr>
            <a:r>
              <a:rPr lang="en-US" sz="1400" dirty="0">
                <a:solidFill>
                  <a:schemeClr val="bg1"/>
                </a:solidFill>
              </a:rPr>
              <a:t>Patient A</a:t>
            </a:r>
            <a:endParaRPr lang="en-US" sz="1400" dirty="0"/>
          </a:p>
          <a:p>
            <a:pPr algn="ctr" indent="0" marL="0">
              <a:buNone/>
            </a:pPr>
            <a:r>
              <a:rPr lang="en-US" sz="1400" dirty="0">
                <a:solidFill>
                  <a:schemeClr val="bg1"/>
                </a:solidFill>
              </a:rPr>
              <a:t>book slot #42</a:t>
            </a:r>
            <a:endParaRPr lang="en-US" sz="1400" dirty="0"/>
          </a:p>
        </p:txBody>
      </p:sp>
      <p:sp>
        <p:nvSpPr>
          <p:cNvPr id="4" name="Text 2"/>
          <p:cNvSpPr txBox="1"/>
          <p:nvPr/>
        </p:nvSpPr>
        <p:spPr>
          <a:xfrm>
            <a:off x="548640" y="3200400"/>
            <a:ext cx="2011680" cy="1005840"/>
          </a:xfrm>
          <a:prstGeom prst="roundRect">
            <a:avLst>
              <a:gd name="adj" fmla="val 7273"/>
            </a:avLst>
          </a:prstGeom>
          <a:solidFill>
            <a:schemeClr val="accent1"/>
          </a:solidFill>
          <a:ln/>
        </p:spPr>
        <p:txBody>
          <a:bodyPr wrap="square" lIns="762" tIns="762" rIns="762" bIns="762" rtlCol="0" anchor="ctr"/>
          <a:lstStyle/>
          <a:p>
            <a:pPr algn="ctr" indent="0" marL="0">
              <a:buNone/>
            </a:pPr>
            <a:r>
              <a:rPr lang="en-US" sz="1400" dirty="0">
                <a:solidFill>
                  <a:schemeClr val="bg1"/>
                </a:solidFill>
              </a:rPr>
              <a:t>Patient B</a:t>
            </a:r>
            <a:endParaRPr lang="en-US" sz="1400" dirty="0"/>
          </a:p>
          <a:p>
            <a:pPr algn="ctr" indent="0" marL="0">
              <a:buNone/>
            </a:pPr>
            <a:r>
              <a:rPr lang="en-US" sz="1400" dirty="0">
                <a:solidFill>
                  <a:schemeClr val="bg1"/>
                </a:solidFill>
              </a:rPr>
              <a:t>book slot #42</a:t>
            </a:r>
            <a:endParaRPr lang="en-US" sz="1400" dirty="0"/>
          </a:p>
        </p:txBody>
      </p:sp>
      <p:sp>
        <p:nvSpPr>
          <p:cNvPr id="5" name="Shape 3"/>
          <p:cNvSpPr/>
          <p:nvPr/>
        </p:nvSpPr>
        <p:spPr>
          <a:xfrm>
            <a:off x="2560320" y="2057400"/>
            <a:ext cx="731520" cy="0"/>
          </a:xfrm>
          <a:prstGeom prst="line">
            <a:avLst/>
          </a:prstGeom>
          <a:noFill/>
          <a:ln w="25400">
            <a:solidFill>
              <a:schemeClr val="accent5"/>
            </a:solidFill>
            <a:prstDash val="solid"/>
            <a:tailEnd type="triangle"/>
          </a:ln>
        </p:spPr>
      </p:sp>
      <p:sp>
        <p:nvSpPr>
          <p:cNvPr id="6" name="Shape 4"/>
          <p:cNvSpPr/>
          <p:nvPr/>
        </p:nvSpPr>
        <p:spPr>
          <a:xfrm>
            <a:off x="2560320" y="3703320"/>
            <a:ext cx="731520" cy="0"/>
          </a:xfrm>
          <a:prstGeom prst="line">
            <a:avLst/>
          </a:prstGeom>
          <a:noFill/>
          <a:ln w="25400">
            <a:solidFill>
              <a:schemeClr val="accent5"/>
            </a:solidFill>
            <a:prstDash val="solid"/>
            <a:tailEnd type="triangle"/>
          </a:ln>
        </p:spPr>
      </p:sp>
      <p:sp>
        <p:nvSpPr>
          <p:cNvPr id="7" name="Text 5"/>
          <p:cNvSpPr txBox="1"/>
          <p:nvPr/>
        </p:nvSpPr>
        <p:spPr>
          <a:xfrm>
            <a:off x="3291840" y="1554480"/>
            <a:ext cx="3108960" cy="2651760"/>
          </a:xfrm>
          <a:prstGeom prst="roundRect">
            <a:avLst>
              <a:gd name="adj" fmla="val 2759"/>
            </a:avLst>
          </a:prstGeom>
          <a:solidFill>
            <a:schemeClr val="tx1"/>
          </a:solidFill>
          <a:ln/>
        </p:spPr>
        <p:txBody>
          <a:bodyPr wrap="square" lIns="762" tIns="762" rIns="762" bIns="762" rtlCol="0" anchor="ctr"/>
          <a:lstStyle/>
          <a:p>
            <a:pPr algn="ctr" indent="0" marL="0">
              <a:buNone/>
            </a:pPr>
            <a:r>
              <a:rPr lang="en-US" sz="1600" b="1" dirty="0">
                <a:solidFill>
                  <a:schemeClr val="bg1"/>
                </a:solidFill>
              </a:rPr>
              <a:t>findOneAndUpdate</a:t>
            </a:r>
            <a:endParaRPr lang="en-US" sz="14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filter: { _id, status: AVAILABLE }</a:t>
            </a:r>
            <a:endParaRPr lang="en-US" sz="14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set: { status: BOOKED }</a:t>
            </a:r>
            <a:endParaRPr lang="en-US" sz="1400" dirty="0"/>
          </a:p>
        </p:txBody>
      </p:sp>
      <p:sp>
        <p:nvSpPr>
          <p:cNvPr id="8" name="Shape 6"/>
          <p:cNvSpPr/>
          <p:nvPr/>
        </p:nvSpPr>
        <p:spPr>
          <a:xfrm>
            <a:off x="6400800" y="2057400"/>
            <a:ext cx="731520" cy="0"/>
          </a:xfrm>
          <a:prstGeom prst="line">
            <a:avLst/>
          </a:prstGeom>
          <a:noFill/>
          <a:ln w="25400">
            <a:solidFill>
              <a:schemeClr val="accent5"/>
            </a:solidFill>
            <a:prstDash val="solid"/>
            <a:tailEnd type="triangle"/>
          </a:ln>
        </p:spPr>
      </p:sp>
      <p:sp>
        <p:nvSpPr>
          <p:cNvPr id="9" name="Shape 7"/>
          <p:cNvSpPr/>
          <p:nvPr/>
        </p:nvSpPr>
        <p:spPr>
          <a:xfrm>
            <a:off x="6400800" y="3703320"/>
            <a:ext cx="731520" cy="0"/>
          </a:xfrm>
          <a:prstGeom prst="line">
            <a:avLst/>
          </a:prstGeom>
          <a:noFill/>
          <a:ln w="25400">
            <a:solidFill>
              <a:schemeClr val="accent5"/>
            </a:solidFill>
            <a:prstDash val="solid"/>
            <a:tailEnd type="triangle"/>
          </a:ln>
        </p:spPr>
      </p:sp>
      <p:sp>
        <p:nvSpPr>
          <p:cNvPr id="10" name="Text 8"/>
          <p:cNvSpPr txBox="1"/>
          <p:nvPr/>
        </p:nvSpPr>
        <p:spPr>
          <a:xfrm>
            <a:off x="7132320" y="1554480"/>
            <a:ext cx="4480560" cy="1005840"/>
          </a:xfrm>
          <a:prstGeom prst="roundRect">
            <a:avLst>
              <a:gd name="adj" fmla="val 7273"/>
            </a:avLst>
          </a:prstGeom>
          <a:solidFill>
            <a:schemeClr val="accent2"/>
          </a:solidFill>
          <a:ln/>
        </p:spPr>
        <p:txBody>
          <a:bodyPr wrap="square" lIns="762" tIns="762" rIns="762" bIns="762" rtlCol="0" anchor="ctr"/>
          <a:lstStyle/>
          <a:p>
            <a:pPr algn="ctr" indent="0" marL="0">
              <a:buNone/>
            </a:pPr>
            <a:r>
              <a:rPr lang="en-US" sz="1400" b="1" dirty="0">
                <a:solidFill>
                  <a:schemeClr val="tx1"/>
                </a:solidFill>
              </a:rPr>
              <a:t>A: document matched</a:t>
            </a:r>
            <a:endParaRPr lang="en-US" sz="1400" dirty="0"/>
          </a:p>
          <a:p>
            <a:pPr algn="ctr" indent="0" marL="0">
              <a:buNone/>
            </a:pPr>
            <a:r>
              <a:rPr lang="en-US" sz="1400" dirty="0">
                <a:solidFill>
                  <a:schemeClr val="tx1"/>
                </a:solidFill>
              </a:rPr>
              <a:t>201 Created, slot is now BOOKED</a:t>
            </a:r>
            <a:endParaRPr lang="en-US" sz="1400" dirty="0"/>
          </a:p>
        </p:txBody>
      </p:sp>
      <p:sp>
        <p:nvSpPr>
          <p:cNvPr id="11" name="Text 9"/>
          <p:cNvSpPr txBox="1"/>
          <p:nvPr/>
        </p:nvSpPr>
        <p:spPr>
          <a:xfrm>
            <a:off x="7132320" y="3200400"/>
            <a:ext cx="4480560" cy="1005840"/>
          </a:xfrm>
          <a:prstGeom prst="roundRect">
            <a:avLst>
              <a:gd name="adj" fmla="val 7273"/>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B: null returned</a:t>
            </a:r>
            <a:endParaRPr lang="en-US" sz="1400" dirty="0"/>
          </a:p>
          <a:p>
            <a:pPr algn="ctr" indent="0" marL="0">
              <a:buNone/>
            </a:pPr>
            <a:r>
              <a:rPr lang="en-US" sz="1400" dirty="0">
                <a:solidFill>
                  <a:schemeClr val="bg1"/>
                </a:solidFill>
              </a:rPr>
              <a:t>409 Conflict, slot already taken</a:t>
            </a:r>
            <a:endParaRPr lang="en-US" sz="1400" dirty="0"/>
          </a:p>
        </p:txBody>
      </p:sp>
      <p:sp>
        <p:nvSpPr>
          <p:cNvPr id="12" name="Shape 10"/>
          <p:cNvSpPr/>
          <p:nvPr/>
        </p:nvSpPr>
        <p:spPr>
          <a:xfrm>
            <a:off x="548640" y="4572000"/>
            <a:ext cx="11064240" cy="1554480"/>
          </a:xfrm>
          <a:prstGeom prst="roundRect">
            <a:avLst>
              <a:gd name="adj" fmla="val 5882"/>
            </a:avLst>
          </a:prstGeom>
          <a:solidFill>
            <a:schemeClr val="tx1"/>
          </a:solidFill>
          <a:ln/>
        </p:spPr>
      </p:sp>
      <p:sp>
        <p:nvSpPr>
          <p:cNvPr id="13" name="Text 11"/>
          <p:cNvSpPr txBox="1"/>
          <p:nvPr/>
        </p:nvSpPr>
        <p:spPr>
          <a:xfrm>
            <a:off x="822960" y="4754880"/>
            <a:ext cx="10515600" cy="502920"/>
          </a:xfrm>
          <a:prstGeom prst="rect">
            <a:avLst/>
          </a:prstGeom>
          <a:noFill/>
          <a:ln/>
        </p:spPr>
        <p:txBody>
          <a:bodyPr wrap="square" lIns="0" tIns="0" rIns="0" bIns="0" rtlCol="0" anchor="t"/>
          <a:lstStyle/>
          <a:p>
            <a:pPr indent="0" marL="0">
              <a:buNone/>
            </a:pPr>
            <a:r>
              <a:rPr lang="en-US" sz="1400" b="1" dirty="0">
                <a:solidFill>
                  <a:schemeClr val="bg1"/>
                </a:solidFill>
              </a:rPr>
              <a:t>Second line of defence: a partial unique index lets the database itself refuse a second active booking for one slot.</a:t>
            </a:r>
            <a:endParaRPr lang="en-US" sz="1400" dirty="0"/>
          </a:p>
        </p:txBody>
      </p:sp>
      <p:sp>
        <p:nvSpPr>
          <p:cNvPr id="14" name="Text 12"/>
          <p:cNvSpPr txBox="1"/>
          <p:nvPr/>
        </p:nvSpPr>
        <p:spPr>
          <a:xfrm>
            <a:off x="822960" y="5440680"/>
            <a:ext cx="10515600" cy="45720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appointmentSchema.index({ slotId: 1 }, { unique: true, partialFilterExpression: { status: { $in: ACTIVE } } })</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Complete appointment lifecycle</a:t>
            </a:r>
            <a:endParaRPr lang="en-US" sz="3400" dirty="0"/>
          </a:p>
        </p:txBody>
      </p:sp>
      <p:sp>
        <p:nvSpPr>
          <p:cNvPr id="3" name="Text 1"/>
          <p:cNvSpPr txBox="1"/>
          <p:nvPr/>
        </p:nvSpPr>
        <p:spPr>
          <a:xfrm>
            <a:off x="548640" y="1554480"/>
            <a:ext cx="2377440" cy="1097280"/>
          </a:xfrm>
          <a:prstGeom prst="roundRect">
            <a:avLst>
              <a:gd name="adj" fmla="val 6667"/>
            </a:avLst>
          </a:prstGeom>
          <a:solidFill>
            <a:schemeClr val="accent1"/>
          </a:solidFill>
          <a:ln/>
        </p:spPr>
        <p:txBody>
          <a:bodyPr wrap="square" lIns="762" tIns="762" rIns="762" bIns="762" rtlCol="0" anchor="ctr"/>
          <a:lstStyle/>
          <a:p>
            <a:pPr algn="ctr" indent="0" marL="0">
              <a:buNone/>
            </a:pPr>
            <a:r>
              <a:rPr lang="en-US" sz="1800" b="1" dirty="0">
                <a:solidFill>
                  <a:schemeClr val="bg1"/>
                </a:solidFill>
              </a:rPr>
              <a:t>BOOKED</a:t>
            </a:r>
            <a:endParaRPr lang="en-US" sz="1800" dirty="0"/>
          </a:p>
        </p:txBody>
      </p:sp>
      <p:sp>
        <p:nvSpPr>
          <p:cNvPr id="4" name="Text 2"/>
          <p:cNvSpPr txBox="1"/>
          <p:nvPr/>
        </p:nvSpPr>
        <p:spPr>
          <a:xfrm>
            <a:off x="4937760" y="1554480"/>
            <a:ext cx="2377440" cy="1097280"/>
          </a:xfrm>
          <a:prstGeom prst="roundRect">
            <a:avLst>
              <a:gd name="adj" fmla="val 6667"/>
            </a:avLst>
          </a:prstGeom>
          <a:solidFill>
            <a:schemeClr val="accent1"/>
          </a:solidFill>
          <a:ln/>
        </p:spPr>
        <p:txBody>
          <a:bodyPr wrap="square" lIns="762" tIns="762" rIns="762" bIns="762" rtlCol="0" anchor="ctr"/>
          <a:lstStyle/>
          <a:p>
            <a:pPr algn="ctr" indent="0" marL="0">
              <a:buNone/>
            </a:pPr>
            <a:r>
              <a:rPr lang="en-US" sz="1800" b="1" dirty="0">
                <a:solidFill>
                  <a:schemeClr val="bg1"/>
                </a:solidFill>
              </a:rPr>
              <a:t>CONFIRMED</a:t>
            </a:r>
            <a:endParaRPr lang="en-US" sz="1800" dirty="0"/>
          </a:p>
        </p:txBody>
      </p:sp>
      <p:sp>
        <p:nvSpPr>
          <p:cNvPr id="5" name="Text 3"/>
          <p:cNvSpPr txBox="1"/>
          <p:nvPr/>
        </p:nvSpPr>
        <p:spPr>
          <a:xfrm>
            <a:off x="9235440" y="1554480"/>
            <a:ext cx="2377440" cy="1097280"/>
          </a:xfrm>
          <a:prstGeom prst="roundRect">
            <a:avLst>
              <a:gd name="adj" fmla="val 6667"/>
            </a:avLst>
          </a:prstGeom>
          <a:solidFill>
            <a:schemeClr val="accent2"/>
          </a:solidFill>
          <a:ln/>
        </p:spPr>
        <p:txBody>
          <a:bodyPr wrap="square" lIns="762" tIns="762" rIns="762" bIns="762" rtlCol="0" anchor="ctr"/>
          <a:lstStyle/>
          <a:p>
            <a:pPr algn="ctr" indent="0" marL="0">
              <a:buNone/>
            </a:pPr>
            <a:r>
              <a:rPr lang="en-US" sz="1800" b="1" dirty="0">
                <a:solidFill>
                  <a:schemeClr val="bg1"/>
                </a:solidFill>
              </a:rPr>
              <a:t>COMPLETED</a:t>
            </a:r>
            <a:endParaRPr lang="en-US" sz="1800" dirty="0"/>
          </a:p>
        </p:txBody>
      </p:sp>
      <p:sp>
        <p:nvSpPr>
          <p:cNvPr id="6" name="Shape 4"/>
          <p:cNvSpPr/>
          <p:nvPr/>
        </p:nvSpPr>
        <p:spPr>
          <a:xfrm>
            <a:off x="2926080" y="2103120"/>
            <a:ext cx="2011680" cy="0"/>
          </a:xfrm>
          <a:prstGeom prst="line">
            <a:avLst/>
          </a:prstGeom>
          <a:noFill/>
          <a:ln w="25400">
            <a:solidFill>
              <a:schemeClr val="accent5"/>
            </a:solidFill>
            <a:prstDash val="solid"/>
            <a:tailEnd type="triangle"/>
          </a:ln>
        </p:spPr>
      </p:sp>
      <p:sp>
        <p:nvSpPr>
          <p:cNvPr id="7" name="Shape 5"/>
          <p:cNvSpPr/>
          <p:nvPr/>
        </p:nvSpPr>
        <p:spPr>
          <a:xfrm>
            <a:off x="7315200" y="2103120"/>
            <a:ext cx="1920240" cy="0"/>
          </a:xfrm>
          <a:prstGeom prst="line">
            <a:avLst/>
          </a:prstGeom>
          <a:noFill/>
          <a:ln w="25400">
            <a:solidFill>
              <a:schemeClr val="accent5"/>
            </a:solidFill>
            <a:prstDash val="solid"/>
            <a:tailEnd type="triangle"/>
          </a:ln>
        </p:spPr>
      </p:sp>
      <p:sp>
        <p:nvSpPr>
          <p:cNvPr id="8" name="Text 6"/>
          <p:cNvSpPr txBox="1"/>
          <p:nvPr/>
        </p:nvSpPr>
        <p:spPr>
          <a:xfrm>
            <a:off x="3017520" y="1737360"/>
            <a:ext cx="1828800" cy="274320"/>
          </a:xfrm>
          <a:prstGeom prst="rect">
            <a:avLst/>
          </a:prstGeom>
          <a:noFill/>
          <a:ln/>
        </p:spPr>
        <p:txBody>
          <a:bodyPr wrap="square" lIns="0" tIns="0" rIns="0" bIns="0" rtlCol="0" anchor="t"/>
          <a:lstStyle/>
          <a:p>
            <a:pPr algn="ctr" indent="0" marL="0">
              <a:buNone/>
            </a:pPr>
            <a:r>
              <a:rPr lang="en-US" sz="1200" dirty="0">
                <a:solidFill>
                  <a:schemeClr val="accent5"/>
                </a:solidFill>
              </a:rPr>
              <a:t>doctor confirms</a:t>
            </a:r>
            <a:endParaRPr lang="en-US" sz="1200" dirty="0"/>
          </a:p>
        </p:txBody>
      </p:sp>
      <p:sp>
        <p:nvSpPr>
          <p:cNvPr id="9" name="Text 7"/>
          <p:cNvSpPr txBox="1"/>
          <p:nvPr/>
        </p:nvSpPr>
        <p:spPr>
          <a:xfrm>
            <a:off x="7406640" y="1737360"/>
            <a:ext cx="1828800" cy="274320"/>
          </a:xfrm>
          <a:prstGeom prst="rect">
            <a:avLst/>
          </a:prstGeom>
          <a:noFill/>
          <a:ln/>
        </p:spPr>
        <p:txBody>
          <a:bodyPr wrap="square" lIns="0" tIns="0" rIns="0" bIns="0" rtlCol="0" anchor="t"/>
          <a:lstStyle/>
          <a:p>
            <a:pPr algn="ctr" indent="0" marL="0">
              <a:buNone/>
            </a:pPr>
            <a:r>
              <a:rPr lang="en-US" sz="1200" dirty="0">
                <a:solidFill>
                  <a:schemeClr val="accent5"/>
                </a:solidFill>
              </a:rPr>
              <a:t>visit finished</a:t>
            </a:r>
            <a:endParaRPr lang="en-US" sz="1200" dirty="0"/>
          </a:p>
        </p:txBody>
      </p:sp>
      <p:sp>
        <p:nvSpPr>
          <p:cNvPr id="10" name="Shape 8"/>
          <p:cNvSpPr/>
          <p:nvPr/>
        </p:nvSpPr>
        <p:spPr>
          <a:xfrm>
            <a:off x="1737360" y="2651760"/>
            <a:ext cx="0" cy="1371600"/>
          </a:xfrm>
          <a:prstGeom prst="line">
            <a:avLst/>
          </a:prstGeom>
          <a:noFill/>
          <a:ln w="25400">
            <a:solidFill>
              <a:schemeClr val="accent5"/>
            </a:solidFill>
            <a:prstDash val="solid"/>
            <a:tailEnd type="triangle"/>
          </a:ln>
        </p:spPr>
      </p:sp>
      <p:sp>
        <p:nvSpPr>
          <p:cNvPr id="11" name="Shape 9"/>
          <p:cNvSpPr/>
          <p:nvPr/>
        </p:nvSpPr>
        <p:spPr>
          <a:xfrm>
            <a:off x="6126480" y="2651760"/>
            <a:ext cx="0" cy="1371600"/>
          </a:xfrm>
          <a:prstGeom prst="line">
            <a:avLst/>
          </a:prstGeom>
          <a:noFill/>
          <a:ln w="25400">
            <a:solidFill>
              <a:schemeClr val="accent5"/>
            </a:solidFill>
            <a:prstDash val="solid"/>
            <a:tailEnd type="triangle"/>
          </a:ln>
        </p:spPr>
      </p:sp>
      <p:sp>
        <p:nvSpPr>
          <p:cNvPr id="12" name="Text 10"/>
          <p:cNvSpPr txBox="1"/>
          <p:nvPr/>
        </p:nvSpPr>
        <p:spPr>
          <a:xfrm>
            <a:off x="548640" y="4023360"/>
            <a:ext cx="2377440" cy="914400"/>
          </a:xfrm>
          <a:prstGeom prst="roundRect">
            <a:avLst>
              <a:gd name="adj" fmla="val 8000"/>
            </a:avLst>
          </a:prstGeom>
          <a:solidFill>
            <a:schemeClr val="accent4"/>
          </a:solidFill>
          <a:ln/>
        </p:spPr>
        <p:txBody>
          <a:bodyPr wrap="square" lIns="762" tIns="762" rIns="762" bIns="762" rtlCol="0" anchor="ctr"/>
          <a:lstStyle/>
          <a:p>
            <a:pPr algn="ctr" indent="0" marL="0">
              <a:buNone/>
            </a:pPr>
            <a:r>
              <a:rPr lang="en-US" sz="1800" b="1" dirty="0">
                <a:solidFill>
                  <a:schemeClr val="bg1"/>
                </a:solidFill>
              </a:rPr>
              <a:t>CANCELLED</a:t>
            </a:r>
            <a:endParaRPr lang="en-US" sz="1800" dirty="0"/>
          </a:p>
        </p:txBody>
      </p:sp>
      <p:sp>
        <p:nvSpPr>
          <p:cNvPr id="13" name="Text 11"/>
          <p:cNvSpPr txBox="1"/>
          <p:nvPr/>
        </p:nvSpPr>
        <p:spPr>
          <a:xfrm>
            <a:off x="4937760" y="4023360"/>
            <a:ext cx="2377440" cy="914400"/>
          </a:xfrm>
          <a:prstGeom prst="roundRect">
            <a:avLst>
              <a:gd name="adj" fmla="val 8000"/>
            </a:avLst>
          </a:prstGeom>
          <a:solidFill>
            <a:schemeClr val="accent3"/>
          </a:solidFill>
          <a:ln/>
        </p:spPr>
        <p:txBody>
          <a:bodyPr wrap="square" lIns="762" tIns="762" rIns="762" bIns="762" rtlCol="0" anchor="ctr"/>
          <a:lstStyle/>
          <a:p>
            <a:pPr algn="ctr" indent="0" marL="0">
              <a:buNone/>
            </a:pPr>
            <a:r>
              <a:rPr lang="en-US" sz="1800" b="1" dirty="0">
                <a:solidFill>
                  <a:schemeClr val="bg1"/>
                </a:solidFill>
              </a:rPr>
              <a:t>RESCHEDULED</a:t>
            </a:r>
            <a:endParaRPr lang="en-US" sz="1800" dirty="0"/>
          </a:p>
        </p:txBody>
      </p:sp>
      <p:sp>
        <p:nvSpPr>
          <p:cNvPr id="14" name="Text 12"/>
          <p:cNvSpPr txBox="1"/>
          <p:nvPr/>
        </p:nvSpPr>
        <p:spPr>
          <a:xfrm>
            <a:off x="548640" y="5120640"/>
            <a:ext cx="3840480" cy="1097280"/>
          </a:xfrm>
          <a:prstGeom prst="rect">
            <a:avLst/>
          </a:prstGeom>
          <a:noFill/>
          <a:ln/>
        </p:spPr>
        <p:txBody>
          <a:bodyPr wrap="square" lIns="0" tIns="0" rIns="0" bIns="0" rtlCol="0" anchor="t"/>
          <a:lstStyle/>
          <a:p>
            <a:pPr indent="0" marL="0">
              <a:buNone/>
            </a:pPr>
            <a:r>
              <a:rPr lang="en-US" sz="1400" dirty="0">
                <a:solidFill>
                  <a:schemeClr val="tx2"/>
                </a:solidFill>
              </a:rPr>
              <a:t>Slot is released back to AVAILABLE immediately, ready for the next patient.</a:t>
            </a:r>
            <a:endParaRPr lang="en-US" sz="1400" dirty="0"/>
          </a:p>
        </p:txBody>
      </p:sp>
      <p:sp>
        <p:nvSpPr>
          <p:cNvPr id="15" name="Text 13"/>
          <p:cNvSpPr txBox="1"/>
          <p:nvPr/>
        </p:nvSpPr>
        <p:spPr>
          <a:xfrm>
            <a:off x="4937760" y="5120640"/>
            <a:ext cx="4023360" cy="1097280"/>
          </a:xfrm>
          <a:prstGeom prst="rect">
            <a:avLst/>
          </a:prstGeom>
          <a:noFill/>
          <a:ln/>
        </p:spPr>
        <p:txBody>
          <a:bodyPr wrap="square" lIns="0" tIns="0" rIns="0" bIns="0" rtlCol="0" anchor="t"/>
          <a:lstStyle/>
          <a:p>
            <a:pPr indent="0" marL="0">
              <a:buNone/>
            </a:pPr>
            <a:r>
              <a:rPr lang="en-US" sz="1400" dirty="0">
                <a:solidFill>
                  <a:schemeClr val="tx2"/>
                </a:solidFill>
              </a:rPr>
              <a:t>Atomic slot swap: the new slot is claimed before the old one is freed, so a patient never loses both.</a:t>
            </a:r>
            <a:endParaRPr lang="en-US" sz="1400" dirty="0"/>
          </a:p>
        </p:txBody>
      </p:sp>
      <p:sp>
        <p:nvSpPr>
          <p:cNvPr id="16" name="Text 14"/>
          <p:cNvSpPr txBox="1"/>
          <p:nvPr/>
        </p:nvSpPr>
        <p:spPr>
          <a:xfrm>
            <a:off x="9235440" y="3108960"/>
            <a:ext cx="2377440" cy="2011680"/>
          </a:xfrm>
          <a:prstGeom prst="rect">
            <a:avLst/>
          </a:prstGeom>
          <a:noFill/>
          <a:ln/>
        </p:spPr>
        <p:txBody>
          <a:bodyPr wrap="square" lIns="0" tIns="0" rIns="0" bIns="0" rtlCol="0" anchor="t"/>
          <a:lstStyle/>
          <a:p>
            <a:pPr indent="0" marL="0">
              <a:buNone/>
            </a:pPr>
            <a:r>
              <a:rPr lang="en-US" sz="1400" dirty="0">
                <a:solidFill>
                  <a:schemeClr val="tx2"/>
                </a:solidFill>
              </a:rPr>
              <a:t>Doctors drive clinical status changes; patients own booking, rescheduling and cancelling.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Doctor practice and financial dashboard</a:t>
            </a:r>
            <a:endParaRPr lang="en-US" sz="3400" dirty="0"/>
          </a:p>
        </p:txBody>
      </p:sp>
      <p:sp>
        <p:nvSpPr>
          <p:cNvPr id="3" name="Shape 1"/>
          <p:cNvSpPr/>
          <p:nvPr/>
        </p:nvSpPr>
        <p:spPr>
          <a:xfrm>
            <a:off x="548640" y="1463040"/>
            <a:ext cx="2286000" cy="1280160"/>
          </a:xfrm>
          <a:prstGeom prst="roundRect">
            <a:avLst>
              <a:gd name="adj" fmla="val 7143"/>
            </a:avLst>
          </a:prstGeom>
          <a:solidFill>
            <a:schemeClr val="bg2"/>
          </a:solidFill>
          <a:ln/>
        </p:spPr>
      </p:sp>
      <p:sp>
        <p:nvSpPr>
          <p:cNvPr id="4" name="Text 2"/>
          <p:cNvSpPr txBox="1"/>
          <p:nvPr/>
        </p:nvSpPr>
        <p:spPr>
          <a:xfrm>
            <a:off x="731520" y="1645920"/>
            <a:ext cx="1920240" cy="274320"/>
          </a:xfrm>
          <a:prstGeom prst="rect">
            <a:avLst/>
          </a:prstGeom>
          <a:noFill/>
          <a:ln/>
        </p:spPr>
        <p:txBody>
          <a:bodyPr wrap="square" lIns="0" tIns="0" rIns="0" bIns="0" rtlCol="0" anchor="t"/>
          <a:lstStyle/>
          <a:p>
            <a:pPr indent="0" marL="0">
              <a:buNone/>
            </a:pPr>
            <a:r>
              <a:rPr lang="en-US" sz="1200" b="1" dirty="0">
                <a:solidFill>
                  <a:schemeClr val="accent5"/>
                </a:solidFill>
              </a:rPr>
              <a:t>Consultation fee</a:t>
            </a:r>
            <a:endParaRPr lang="en-US" sz="1200" dirty="0"/>
          </a:p>
        </p:txBody>
      </p:sp>
      <p:sp>
        <p:nvSpPr>
          <p:cNvPr id="5" name="Text 3"/>
          <p:cNvSpPr txBox="1"/>
          <p:nvPr/>
        </p:nvSpPr>
        <p:spPr>
          <a:xfrm>
            <a:off x="731520" y="2011680"/>
            <a:ext cx="192024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₹500</a:t>
            </a:r>
            <a:endParaRPr lang="en-US" sz="2800" dirty="0"/>
          </a:p>
        </p:txBody>
      </p:sp>
      <p:sp>
        <p:nvSpPr>
          <p:cNvPr id="6" name="Shape 4"/>
          <p:cNvSpPr/>
          <p:nvPr/>
        </p:nvSpPr>
        <p:spPr>
          <a:xfrm>
            <a:off x="3063240" y="1463040"/>
            <a:ext cx="2286000" cy="1280160"/>
          </a:xfrm>
          <a:prstGeom prst="roundRect">
            <a:avLst>
              <a:gd name="adj" fmla="val 7143"/>
            </a:avLst>
          </a:prstGeom>
          <a:solidFill>
            <a:schemeClr val="bg2"/>
          </a:solidFill>
          <a:ln/>
        </p:spPr>
      </p:sp>
      <p:sp>
        <p:nvSpPr>
          <p:cNvPr id="7" name="Text 5"/>
          <p:cNvSpPr txBox="1"/>
          <p:nvPr/>
        </p:nvSpPr>
        <p:spPr>
          <a:xfrm>
            <a:off x="3246120" y="1645920"/>
            <a:ext cx="1920240" cy="274320"/>
          </a:xfrm>
          <a:prstGeom prst="rect">
            <a:avLst/>
          </a:prstGeom>
          <a:noFill/>
          <a:ln/>
        </p:spPr>
        <p:txBody>
          <a:bodyPr wrap="square" lIns="0" tIns="0" rIns="0" bIns="0" rtlCol="0" anchor="t"/>
          <a:lstStyle/>
          <a:p>
            <a:pPr indent="0" marL="0">
              <a:buNone/>
            </a:pPr>
            <a:r>
              <a:rPr lang="en-US" sz="1200" b="1" dirty="0">
                <a:solidFill>
                  <a:schemeClr val="accent5"/>
                </a:solidFill>
              </a:rPr>
              <a:t>Today's visits</a:t>
            </a:r>
            <a:endParaRPr lang="en-US" sz="1200" dirty="0"/>
          </a:p>
        </p:txBody>
      </p:sp>
      <p:sp>
        <p:nvSpPr>
          <p:cNvPr id="8" name="Text 6"/>
          <p:cNvSpPr txBox="1"/>
          <p:nvPr/>
        </p:nvSpPr>
        <p:spPr>
          <a:xfrm>
            <a:off x="3246120" y="2011680"/>
            <a:ext cx="192024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8</a:t>
            </a:r>
            <a:endParaRPr lang="en-US" sz="2800" dirty="0"/>
          </a:p>
        </p:txBody>
      </p:sp>
      <p:sp>
        <p:nvSpPr>
          <p:cNvPr id="9" name="Shape 7"/>
          <p:cNvSpPr/>
          <p:nvPr/>
        </p:nvSpPr>
        <p:spPr>
          <a:xfrm>
            <a:off x="5577840" y="1463040"/>
            <a:ext cx="2286000" cy="1280160"/>
          </a:xfrm>
          <a:prstGeom prst="roundRect">
            <a:avLst>
              <a:gd name="adj" fmla="val 7143"/>
            </a:avLst>
          </a:prstGeom>
          <a:solidFill>
            <a:schemeClr val="bg2"/>
          </a:solidFill>
          <a:ln/>
        </p:spPr>
      </p:sp>
      <p:sp>
        <p:nvSpPr>
          <p:cNvPr id="10" name="Text 8"/>
          <p:cNvSpPr txBox="1"/>
          <p:nvPr/>
        </p:nvSpPr>
        <p:spPr>
          <a:xfrm>
            <a:off x="5760720" y="1645920"/>
            <a:ext cx="1920240" cy="274320"/>
          </a:xfrm>
          <a:prstGeom prst="rect">
            <a:avLst/>
          </a:prstGeom>
          <a:noFill/>
          <a:ln/>
        </p:spPr>
        <p:txBody>
          <a:bodyPr wrap="square" lIns="0" tIns="0" rIns="0" bIns="0" rtlCol="0" anchor="t"/>
          <a:lstStyle/>
          <a:p>
            <a:pPr indent="0" marL="0">
              <a:buNone/>
            </a:pPr>
            <a:r>
              <a:rPr lang="en-US" sz="1200" b="1" dirty="0">
                <a:solidFill>
                  <a:schemeClr val="accent5"/>
                </a:solidFill>
              </a:rPr>
              <a:t>Completed</a:t>
            </a:r>
            <a:endParaRPr lang="en-US" sz="1200" dirty="0"/>
          </a:p>
        </p:txBody>
      </p:sp>
      <p:sp>
        <p:nvSpPr>
          <p:cNvPr id="11" name="Text 9"/>
          <p:cNvSpPr txBox="1"/>
          <p:nvPr/>
        </p:nvSpPr>
        <p:spPr>
          <a:xfrm>
            <a:off x="5760720" y="2011680"/>
            <a:ext cx="1920240" cy="548640"/>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25</a:t>
            </a:r>
            <a:endParaRPr lang="en-US" sz="2800" dirty="0"/>
          </a:p>
        </p:txBody>
      </p:sp>
      <p:sp>
        <p:nvSpPr>
          <p:cNvPr id="12" name="Shape 10"/>
          <p:cNvSpPr/>
          <p:nvPr/>
        </p:nvSpPr>
        <p:spPr>
          <a:xfrm>
            <a:off x="548640" y="2926080"/>
            <a:ext cx="2286000" cy="1280160"/>
          </a:xfrm>
          <a:prstGeom prst="roundRect">
            <a:avLst>
              <a:gd name="adj" fmla="val 7143"/>
            </a:avLst>
          </a:prstGeom>
          <a:solidFill>
            <a:schemeClr val="bg2"/>
          </a:solidFill>
          <a:ln/>
        </p:spPr>
      </p:sp>
      <p:sp>
        <p:nvSpPr>
          <p:cNvPr id="13" name="Text 11"/>
          <p:cNvSpPr txBox="1"/>
          <p:nvPr/>
        </p:nvSpPr>
        <p:spPr>
          <a:xfrm>
            <a:off x="731520" y="3108960"/>
            <a:ext cx="1920240" cy="274320"/>
          </a:xfrm>
          <a:prstGeom prst="rect">
            <a:avLst/>
          </a:prstGeom>
          <a:noFill/>
          <a:ln/>
        </p:spPr>
        <p:txBody>
          <a:bodyPr wrap="square" lIns="0" tIns="0" rIns="0" bIns="0" rtlCol="0" anchor="t"/>
          <a:lstStyle/>
          <a:p>
            <a:pPr indent="0" marL="0">
              <a:buNone/>
            </a:pPr>
            <a:r>
              <a:rPr lang="en-US" sz="1200" b="1" dirty="0">
                <a:solidFill>
                  <a:schemeClr val="accent5"/>
                </a:solidFill>
              </a:rPr>
              <a:t>Realized revenue</a:t>
            </a:r>
            <a:endParaRPr lang="en-US" sz="1200" dirty="0"/>
          </a:p>
        </p:txBody>
      </p:sp>
      <p:sp>
        <p:nvSpPr>
          <p:cNvPr id="14" name="Text 12"/>
          <p:cNvSpPr txBox="1"/>
          <p:nvPr/>
        </p:nvSpPr>
        <p:spPr>
          <a:xfrm>
            <a:off x="731520" y="3474720"/>
            <a:ext cx="1920240" cy="548640"/>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₹12,500</a:t>
            </a:r>
            <a:endParaRPr lang="en-US" sz="2800" dirty="0"/>
          </a:p>
        </p:txBody>
      </p:sp>
      <p:sp>
        <p:nvSpPr>
          <p:cNvPr id="15" name="Shape 13"/>
          <p:cNvSpPr/>
          <p:nvPr/>
        </p:nvSpPr>
        <p:spPr>
          <a:xfrm>
            <a:off x="3063240" y="2926080"/>
            <a:ext cx="2286000" cy="1280160"/>
          </a:xfrm>
          <a:prstGeom prst="roundRect">
            <a:avLst>
              <a:gd name="adj" fmla="val 7143"/>
            </a:avLst>
          </a:prstGeom>
          <a:solidFill>
            <a:schemeClr val="bg2"/>
          </a:solidFill>
          <a:ln/>
        </p:spPr>
      </p:sp>
      <p:sp>
        <p:nvSpPr>
          <p:cNvPr id="16" name="Text 14"/>
          <p:cNvSpPr txBox="1"/>
          <p:nvPr/>
        </p:nvSpPr>
        <p:spPr>
          <a:xfrm>
            <a:off x="3246120" y="3108960"/>
            <a:ext cx="1920240" cy="274320"/>
          </a:xfrm>
          <a:prstGeom prst="rect">
            <a:avLst/>
          </a:prstGeom>
          <a:noFill/>
          <a:ln/>
        </p:spPr>
        <p:txBody>
          <a:bodyPr wrap="square" lIns="0" tIns="0" rIns="0" bIns="0" rtlCol="0" anchor="t"/>
          <a:lstStyle/>
          <a:p>
            <a:pPr indent="0" marL="0">
              <a:buNone/>
            </a:pPr>
            <a:r>
              <a:rPr lang="en-US" sz="1200" b="1" dirty="0">
                <a:solidFill>
                  <a:schemeClr val="accent5"/>
                </a:solidFill>
              </a:rPr>
              <a:t>Projected revenue</a:t>
            </a:r>
            <a:endParaRPr lang="en-US" sz="1200" dirty="0"/>
          </a:p>
        </p:txBody>
      </p:sp>
      <p:sp>
        <p:nvSpPr>
          <p:cNvPr id="17" name="Text 15"/>
          <p:cNvSpPr txBox="1"/>
          <p:nvPr/>
        </p:nvSpPr>
        <p:spPr>
          <a:xfrm>
            <a:off x="3246120" y="3474720"/>
            <a:ext cx="1920240" cy="548640"/>
          </a:xfrm>
          <a:prstGeom prst="rect">
            <a:avLst/>
          </a:prstGeom>
          <a:noFill/>
          <a:ln/>
        </p:spPr>
        <p:txBody>
          <a:bodyPr wrap="square" lIns="0" tIns="0" rIns="0" bIns="0" rtlCol="0" anchor="t"/>
          <a:lstStyle/>
          <a:p>
            <a:pPr indent="0" marL="0">
              <a:buNone/>
            </a:pPr>
            <a:r>
              <a:rPr lang="en-US" sz="2800" b="1" dirty="0">
                <a:solidFill>
                  <a:schemeClr val="accent6"/>
                </a:solidFill>
                <a:latin typeface="Cambria" pitchFamily="34" charset="0"/>
                <a:ea typeface="Cambria" pitchFamily="34" charset="-122"/>
                <a:cs typeface="Cambria" pitchFamily="34" charset="-120"/>
              </a:rPr>
              <a:t>₹18,000</a:t>
            </a:r>
            <a:endParaRPr lang="en-US" sz="2800" dirty="0"/>
          </a:p>
        </p:txBody>
      </p:sp>
      <p:sp>
        <p:nvSpPr>
          <p:cNvPr id="18" name="Shape 16"/>
          <p:cNvSpPr/>
          <p:nvPr/>
        </p:nvSpPr>
        <p:spPr>
          <a:xfrm>
            <a:off x="5577840" y="2926080"/>
            <a:ext cx="2286000" cy="1280160"/>
          </a:xfrm>
          <a:prstGeom prst="roundRect">
            <a:avLst>
              <a:gd name="adj" fmla="val 7143"/>
            </a:avLst>
          </a:prstGeom>
          <a:solidFill>
            <a:schemeClr val="bg2"/>
          </a:solidFill>
          <a:ln/>
        </p:spPr>
      </p:sp>
      <p:sp>
        <p:nvSpPr>
          <p:cNvPr id="19" name="Text 17"/>
          <p:cNvSpPr txBox="1"/>
          <p:nvPr/>
        </p:nvSpPr>
        <p:spPr>
          <a:xfrm>
            <a:off x="5760720" y="3108960"/>
            <a:ext cx="1920240" cy="274320"/>
          </a:xfrm>
          <a:prstGeom prst="rect">
            <a:avLst/>
          </a:prstGeom>
          <a:noFill/>
          <a:ln/>
        </p:spPr>
        <p:txBody>
          <a:bodyPr wrap="square" lIns="0" tIns="0" rIns="0" bIns="0" rtlCol="0" anchor="t"/>
          <a:lstStyle/>
          <a:p>
            <a:pPr indent="0" marL="0">
              <a:buNone/>
            </a:pPr>
            <a:r>
              <a:rPr lang="en-US" sz="1200" b="1" dirty="0">
                <a:solidFill>
                  <a:schemeClr val="accent5"/>
                </a:solidFill>
              </a:rPr>
              <a:t>Cancelled</a:t>
            </a:r>
            <a:endParaRPr lang="en-US" sz="1200" dirty="0"/>
          </a:p>
        </p:txBody>
      </p:sp>
      <p:sp>
        <p:nvSpPr>
          <p:cNvPr id="20" name="Text 18"/>
          <p:cNvSpPr txBox="1"/>
          <p:nvPr/>
        </p:nvSpPr>
        <p:spPr>
          <a:xfrm>
            <a:off x="5760720" y="3474720"/>
            <a:ext cx="1920240" cy="548640"/>
          </a:xfrm>
          <a:prstGeom prst="rect">
            <a:avLst/>
          </a:prstGeom>
          <a:noFill/>
          <a:ln/>
        </p:spPr>
        <p:txBody>
          <a:bodyPr wrap="square" lIns="0" tIns="0" rIns="0" bIns="0" rtlCol="0" anchor="t"/>
          <a:lstStyle/>
          <a:p>
            <a:pPr indent="0" marL="0">
              <a:buNone/>
            </a:pPr>
            <a:r>
              <a:rPr lang="en-US" sz="2800" b="1" dirty="0">
                <a:solidFill>
                  <a:schemeClr val="accent4"/>
                </a:solidFill>
                <a:latin typeface="Cambria" pitchFamily="34" charset="0"/>
                <a:ea typeface="Cambria" pitchFamily="34" charset="-122"/>
                <a:cs typeface="Cambria" pitchFamily="34" charset="-120"/>
              </a:rPr>
              <a:t>3</a:t>
            </a:r>
            <a:endParaRPr lang="en-US" sz="2800" dirty="0"/>
          </a:p>
        </p:txBody>
      </p:sp>
      <p:sp>
        <p:nvSpPr>
          <p:cNvPr id="21" name="Text 19"/>
          <p:cNvSpPr txBox="1"/>
          <p:nvPr/>
        </p:nvSpPr>
        <p:spPr>
          <a:xfrm>
            <a:off x="548640" y="4526280"/>
            <a:ext cx="7315200" cy="274320"/>
          </a:xfrm>
          <a:prstGeom prst="rect">
            <a:avLst/>
          </a:prstGeom>
          <a:noFill/>
          <a:ln/>
        </p:spPr>
        <p:txBody>
          <a:bodyPr wrap="square" lIns="0" tIns="0" rIns="0" bIns="0" rtlCol="0" anchor="t"/>
          <a:lstStyle/>
          <a:p>
            <a:pPr indent="0" marL="0">
              <a:buNone/>
            </a:pPr>
            <a:r>
              <a:rPr lang="en-US" sz="1400" b="1" dirty="0">
                <a:solidFill>
                  <a:schemeClr val="tx1"/>
                </a:solidFill>
              </a:rPr>
              <a:t>Realized vs projected revenue</a:t>
            </a:r>
            <a:endParaRPr lang="en-US" sz="1400" dirty="0"/>
          </a:p>
        </p:txBody>
      </p:sp>
      <p:sp>
        <p:nvSpPr>
          <p:cNvPr id="22" name="Text 20"/>
          <p:cNvSpPr txBox="1"/>
          <p:nvPr/>
        </p:nvSpPr>
        <p:spPr>
          <a:xfrm>
            <a:off x="548640" y="4892040"/>
            <a:ext cx="5084064" cy="548640"/>
          </a:xfrm>
          <a:prstGeom prst="roundRect">
            <a:avLst>
              <a:gd name="adj" fmla="val 13333"/>
            </a:avLst>
          </a:prstGeom>
          <a:solidFill>
            <a:schemeClr val="accent2"/>
          </a:solidFill>
          <a:ln/>
        </p:spPr>
        <p:txBody>
          <a:bodyPr wrap="square" lIns="762" tIns="762" rIns="762" bIns="762" rtlCol="0" anchor="ctr"/>
          <a:lstStyle/>
          <a:p>
            <a:pPr algn="ctr" indent="0" marL="0">
              <a:buNone/>
            </a:pPr>
            <a:r>
              <a:rPr lang="en-US" sz="1400" b="1" dirty="0">
                <a:solidFill>
                  <a:schemeClr val="tx1"/>
                </a:solidFill>
              </a:rPr>
              <a:t>Realized 69%</a:t>
            </a:r>
            <a:endParaRPr lang="en-US" sz="1400" dirty="0"/>
          </a:p>
        </p:txBody>
      </p:sp>
      <p:sp>
        <p:nvSpPr>
          <p:cNvPr id="23" name="Text 21"/>
          <p:cNvSpPr txBox="1"/>
          <p:nvPr/>
        </p:nvSpPr>
        <p:spPr>
          <a:xfrm>
            <a:off x="5632704" y="4892040"/>
            <a:ext cx="2231136" cy="548640"/>
          </a:xfrm>
          <a:prstGeom prst="roundRect">
            <a:avLst>
              <a:gd name="adj" fmla="val 13333"/>
            </a:avLst>
          </a:prstGeom>
          <a:solidFill>
            <a:schemeClr val="accent1">
              <a:alpha val="20000"/>
            </a:schemeClr>
          </a:solidFill>
          <a:ln/>
        </p:spPr>
        <p:txBody>
          <a:bodyPr wrap="square" lIns="762" tIns="762" rIns="762" bIns="762" rtlCol="0" anchor="ctr"/>
          <a:lstStyle/>
          <a:p>
            <a:pPr algn="ctr" indent="0" marL="0">
              <a:buNone/>
            </a:pPr>
            <a:r>
              <a:rPr lang="en-US" sz="1400" b="1" dirty="0">
                <a:solidFill>
                  <a:schemeClr val="accent1"/>
                </a:solidFill>
              </a:rPr>
              <a:t>Pending 31%</a:t>
            </a:r>
            <a:endParaRPr lang="en-US" sz="1400" dirty="0"/>
          </a:p>
        </p:txBody>
      </p:sp>
      <p:sp>
        <p:nvSpPr>
          <p:cNvPr id="24" name="Text 22"/>
          <p:cNvSpPr txBox="1"/>
          <p:nvPr/>
        </p:nvSpPr>
        <p:spPr>
          <a:xfrm>
            <a:off x="548640" y="5577840"/>
            <a:ext cx="7315200" cy="274320"/>
          </a:xfrm>
          <a:prstGeom prst="rect">
            <a:avLst/>
          </a:prstGeom>
          <a:noFill/>
          <a:ln/>
        </p:spPr>
        <p:txBody>
          <a:bodyPr wrap="square" lIns="0" tIns="0" rIns="0" bIns="0" rtlCol="0" anchor="t"/>
          <a:lstStyle/>
          <a:p>
            <a:pPr indent="0" marL="0">
              <a:buNone/>
            </a:pPr>
            <a:r>
              <a:rPr lang="en-US" sz="1100" i="1" dirty="0">
                <a:solidFill>
                  <a:schemeClr val="accent5"/>
                </a:solidFill>
              </a:rPr>
              <a:t>Sample values for illustration</a:t>
            </a:r>
            <a:endParaRPr lang="en-US" sz="1100" dirty="0"/>
          </a:p>
        </p:txBody>
      </p:sp>
      <p:sp>
        <p:nvSpPr>
          <p:cNvPr id="25" name="Shape 23"/>
          <p:cNvSpPr/>
          <p:nvPr/>
        </p:nvSpPr>
        <p:spPr>
          <a:xfrm>
            <a:off x="8412480" y="1463040"/>
            <a:ext cx="3200400" cy="4389120"/>
          </a:xfrm>
          <a:prstGeom prst="roundRect">
            <a:avLst>
              <a:gd name="adj" fmla="val 2857"/>
            </a:avLst>
          </a:prstGeom>
          <a:solidFill>
            <a:schemeClr val="bg2"/>
          </a:solidFill>
          <a:ln/>
        </p:spPr>
      </p:sp>
      <p:sp>
        <p:nvSpPr>
          <p:cNvPr id="26" name="Text 24"/>
          <p:cNvSpPr txBox="1"/>
          <p:nvPr/>
        </p:nvSpPr>
        <p:spPr>
          <a:xfrm>
            <a:off x="8641080" y="1664208"/>
            <a:ext cx="274320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Built for the clinic</a:t>
            </a:r>
            <a:endParaRPr lang="en-US" sz="1700" dirty="0"/>
          </a:p>
        </p:txBody>
      </p:sp>
      <p:sp>
        <p:nvSpPr>
          <p:cNvPr id="27" name="Text 25"/>
          <p:cNvSpPr txBox="1"/>
          <p:nvPr/>
        </p:nvSpPr>
        <p:spPr>
          <a:xfrm>
            <a:off x="8641080" y="2148840"/>
            <a:ext cx="2743200" cy="3520440"/>
          </a:xfrm>
          <a:prstGeom prst="rect">
            <a:avLst/>
          </a:prstGeom>
          <a:noFill/>
          <a:ln/>
        </p:spPr>
        <p:txBody>
          <a:bodyPr wrap="square" lIns="0" tIns="0" rIns="0" bIns="0" rtlCol="0" anchor="t"/>
          <a:lstStyle/>
          <a:p>
            <a:pPr indent="0" marL="0">
              <a:buNone/>
            </a:pPr>
            <a:r>
              <a:rPr lang="en-US" sz="1400" dirty="0">
                <a:solidFill>
                  <a:schemeClr val="tx2"/>
                </a:solidFill>
              </a:rPr>
              <a:t>Edit your consultation fee live in ₹ INR.</a:t>
            </a:r>
            <a:endParaRPr lang="en-US" sz="1400" dirty="0"/>
          </a:p>
          <a:p>
            <a:pPr indent="0" marL="0">
              <a:buNone/>
            </a:pPr>
            <a:endParaRPr lang="en-US" sz="1400" dirty="0"/>
          </a:p>
          <a:p>
            <a:pPr indent="0" marL="0">
              <a:buNone/>
            </a:pPr>
            <a:r>
              <a:rPr lang="en-US" sz="1400" dirty="0">
                <a:solidFill>
                  <a:schemeClr val="tx2"/>
                </a:solidFill>
              </a:rPr>
              <a:t>Realized revenue counts completed visits; projected adds booked ones.</a:t>
            </a:r>
            <a:endParaRPr lang="en-US" sz="1400" dirty="0"/>
          </a:p>
          <a:p>
            <a:pPr indent="0" marL="0">
              <a:buNone/>
            </a:pPr>
            <a:endParaRPr lang="en-US" sz="1400" dirty="0"/>
          </a:p>
          <a:p>
            <a:pPr indent="0" marL="0">
              <a:buNone/>
            </a:pPr>
            <a:r>
              <a:rPr lang="en-US" sz="1400" dirty="0">
                <a:solidFill>
                  <a:schemeClr val="tx2"/>
                </a:solidFill>
              </a:rPr>
              <a:t>Six KPI cards and today's consultation schedule sit on one screen.</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14-day discrete slot generator</a:t>
            </a:r>
            <a:endParaRPr lang="en-US" sz="3400" dirty="0"/>
          </a:p>
        </p:txBody>
      </p:sp>
      <p:sp>
        <p:nvSpPr>
          <p:cNvPr id="3" name="Text 1"/>
          <p:cNvSpPr txBox="1"/>
          <p:nvPr/>
        </p:nvSpPr>
        <p:spPr>
          <a:xfrm>
            <a:off x="548640" y="1463040"/>
            <a:ext cx="3108960" cy="1371600"/>
          </a:xfrm>
          <a:prstGeom prst="roundRect">
            <a:avLst>
              <a:gd name="adj" fmla="val 5333"/>
            </a:avLst>
          </a:prstGeom>
          <a:solidFill>
            <a:schemeClr val="accent1"/>
          </a:solidFill>
          <a:ln/>
        </p:spPr>
        <p:txBody>
          <a:bodyPr wrap="square" lIns="762" tIns="762" rIns="762" bIns="762" rtlCol="0" anchor="ctr"/>
          <a:lstStyle/>
          <a:p>
            <a:pPr algn="ctr" indent="0" marL="0">
              <a:buNone/>
            </a:pPr>
            <a:r>
              <a:rPr lang="en-US" sz="1700" b="1" dirty="0">
                <a:solidFill>
                  <a:schemeClr val="bg1"/>
                </a:solidFill>
              </a:rPr>
              <a:t>Weekly rules</a:t>
            </a:r>
            <a:endParaRPr lang="en-US" sz="1400" dirty="0"/>
          </a:p>
          <a:p>
            <a:pPr algn="ctr" indent="0" marL="0">
              <a:buNone/>
            </a:pPr>
            <a:r>
              <a:rPr lang="en-US" sz="1400" dirty="0">
                <a:solidFill>
                  <a:schemeClr val="bg1"/>
                </a:solidFill>
              </a:rPr>
              <a:t>Mon–Sat · 09:00–17:00 · 30-min slots</a:t>
            </a:r>
            <a:endParaRPr lang="en-US" sz="1400" dirty="0"/>
          </a:p>
        </p:txBody>
      </p:sp>
      <p:sp>
        <p:nvSpPr>
          <p:cNvPr id="4" name="Shape 2"/>
          <p:cNvSpPr/>
          <p:nvPr/>
        </p:nvSpPr>
        <p:spPr>
          <a:xfrm>
            <a:off x="3657600" y="2148840"/>
            <a:ext cx="640080" cy="0"/>
          </a:xfrm>
          <a:prstGeom prst="line">
            <a:avLst/>
          </a:prstGeom>
          <a:noFill/>
          <a:ln w="25400">
            <a:solidFill>
              <a:schemeClr val="accent5"/>
            </a:solidFill>
            <a:prstDash val="solid"/>
            <a:tailEnd type="triangle"/>
          </a:ln>
        </p:spPr>
      </p:sp>
      <p:sp>
        <p:nvSpPr>
          <p:cNvPr id="5" name="Text 3"/>
          <p:cNvSpPr txBox="1"/>
          <p:nvPr/>
        </p:nvSpPr>
        <p:spPr>
          <a:xfrm>
            <a:off x="4297680" y="1463040"/>
            <a:ext cx="3108960" cy="1371600"/>
          </a:xfrm>
          <a:prstGeom prst="roundRect">
            <a:avLst>
              <a:gd name="adj" fmla="val 5333"/>
            </a:avLst>
          </a:prstGeom>
          <a:solidFill>
            <a:schemeClr val="tx1"/>
          </a:solidFill>
          <a:ln/>
        </p:spPr>
        <p:txBody>
          <a:bodyPr wrap="square" lIns="762" tIns="762" rIns="762" bIns="762" rtlCol="0" anchor="ctr"/>
          <a:lstStyle/>
          <a:p>
            <a:pPr algn="ctr" indent="0" marL="0">
              <a:buNone/>
            </a:pPr>
            <a:r>
              <a:rPr lang="en-US" sz="1700" b="1" dirty="0">
                <a:solidFill>
                  <a:schemeClr val="bg1"/>
                </a:solidFill>
              </a:rPr>
              <a:t>Generator</a:t>
            </a:r>
            <a:endParaRPr lang="en-US" sz="1400" dirty="0"/>
          </a:p>
          <a:p>
            <a:pPr algn="ctr" indent="0" marL="0">
              <a:buNone/>
            </a:pPr>
            <a:r>
              <a:rPr lang="en-US" sz="1400" dirty="0">
                <a:solidFill>
                  <a:schemeClr val="bg1"/>
                </a:solidFill>
              </a:rPr>
              <a:t>Expands rules across the next 14 days</a:t>
            </a:r>
            <a:endParaRPr lang="en-US" sz="1400" dirty="0"/>
          </a:p>
        </p:txBody>
      </p:sp>
      <p:sp>
        <p:nvSpPr>
          <p:cNvPr id="6" name="Shape 4"/>
          <p:cNvSpPr/>
          <p:nvPr/>
        </p:nvSpPr>
        <p:spPr>
          <a:xfrm>
            <a:off x="7406640" y="2148840"/>
            <a:ext cx="640080" cy="0"/>
          </a:xfrm>
          <a:prstGeom prst="line">
            <a:avLst/>
          </a:prstGeom>
          <a:noFill/>
          <a:ln w="25400">
            <a:solidFill>
              <a:schemeClr val="accent5"/>
            </a:solidFill>
            <a:prstDash val="solid"/>
            <a:tailEnd type="triangle"/>
          </a:ln>
        </p:spPr>
      </p:sp>
      <p:sp>
        <p:nvSpPr>
          <p:cNvPr id="7" name="Text 5"/>
          <p:cNvSpPr txBox="1"/>
          <p:nvPr/>
        </p:nvSpPr>
        <p:spPr>
          <a:xfrm>
            <a:off x="8046720" y="1463040"/>
            <a:ext cx="3566160" cy="1371600"/>
          </a:xfrm>
          <a:prstGeom prst="roundRect">
            <a:avLst>
              <a:gd name="adj" fmla="val 5333"/>
            </a:avLst>
          </a:prstGeom>
          <a:solidFill>
            <a:schemeClr val="accent2"/>
          </a:solidFill>
          <a:ln/>
        </p:spPr>
        <p:txBody>
          <a:bodyPr wrap="square" lIns="762" tIns="762" rIns="762" bIns="762" rtlCol="0" anchor="ctr"/>
          <a:lstStyle/>
          <a:p>
            <a:pPr algn="ctr" indent="0" marL="0">
              <a:buNone/>
            </a:pPr>
            <a:r>
              <a:rPr lang="en-US" sz="1700" b="1" dirty="0">
                <a:solidFill>
                  <a:schemeClr val="tx1"/>
                </a:solidFill>
              </a:rPr>
              <a:t>Slot documents</a:t>
            </a:r>
            <a:endParaRPr lang="en-US" sz="1400" dirty="0"/>
          </a:p>
          <a:p>
            <a:pPr algn="ctr" indent="0" marL="0">
              <a:buNone/>
            </a:pPr>
            <a:r>
              <a:rPr lang="en-US" sz="1400" dirty="0">
                <a:solidFill>
                  <a:schemeClr val="tx1"/>
                </a:solidFill>
              </a:rPr>
              <a:t>doctorId · date · startTime · AVAILABLE</a:t>
            </a:r>
            <a:endParaRPr lang="en-US" sz="1400" dirty="0"/>
          </a:p>
        </p:txBody>
      </p:sp>
      <p:sp>
        <p:nvSpPr>
          <p:cNvPr id="8" name="Text 6"/>
          <p:cNvSpPr txBox="1"/>
          <p:nvPr/>
        </p:nvSpPr>
        <p:spPr>
          <a:xfrm>
            <a:off x="548640" y="3200400"/>
            <a:ext cx="5486400" cy="274320"/>
          </a:xfrm>
          <a:prstGeom prst="rect">
            <a:avLst/>
          </a:prstGeom>
          <a:noFill/>
          <a:ln/>
        </p:spPr>
        <p:txBody>
          <a:bodyPr wrap="square" lIns="0" tIns="0" rIns="0" bIns="0" rtlCol="0" anchor="t"/>
          <a:lstStyle/>
          <a:p>
            <a:pPr indent="0" marL="0">
              <a:buNone/>
            </a:pPr>
            <a:r>
              <a:rPr lang="en-US" sz="1400" b="1" dirty="0">
                <a:solidFill>
                  <a:schemeClr val="tx1"/>
                </a:solidFill>
              </a:rPr>
              <a:t>Rolling 14-day window</a:t>
            </a:r>
            <a:endParaRPr lang="en-US" sz="1400" dirty="0"/>
          </a:p>
        </p:txBody>
      </p:sp>
      <p:sp>
        <p:nvSpPr>
          <p:cNvPr id="9" name="Text 7"/>
          <p:cNvSpPr txBox="1"/>
          <p:nvPr/>
        </p:nvSpPr>
        <p:spPr>
          <a:xfrm>
            <a:off x="548640"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D1</a:t>
            </a:r>
            <a:endParaRPr lang="en-US" sz="1400" dirty="0"/>
          </a:p>
        </p:txBody>
      </p:sp>
      <p:sp>
        <p:nvSpPr>
          <p:cNvPr id="10" name="Text 8"/>
          <p:cNvSpPr txBox="1"/>
          <p:nvPr/>
        </p:nvSpPr>
        <p:spPr>
          <a:xfrm>
            <a:off x="1344168"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D2</a:t>
            </a:r>
            <a:endParaRPr lang="en-US" sz="1400" dirty="0"/>
          </a:p>
        </p:txBody>
      </p:sp>
      <p:sp>
        <p:nvSpPr>
          <p:cNvPr id="11" name="Text 9"/>
          <p:cNvSpPr txBox="1"/>
          <p:nvPr/>
        </p:nvSpPr>
        <p:spPr>
          <a:xfrm>
            <a:off x="2139696"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D3</a:t>
            </a:r>
            <a:endParaRPr lang="en-US" sz="1400" dirty="0"/>
          </a:p>
        </p:txBody>
      </p:sp>
      <p:sp>
        <p:nvSpPr>
          <p:cNvPr id="12" name="Text 10"/>
          <p:cNvSpPr txBox="1"/>
          <p:nvPr/>
        </p:nvSpPr>
        <p:spPr>
          <a:xfrm>
            <a:off x="2935224"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D4</a:t>
            </a:r>
            <a:endParaRPr lang="en-US" sz="1400" dirty="0"/>
          </a:p>
        </p:txBody>
      </p:sp>
      <p:sp>
        <p:nvSpPr>
          <p:cNvPr id="13" name="Text 11"/>
          <p:cNvSpPr txBox="1"/>
          <p:nvPr/>
        </p:nvSpPr>
        <p:spPr>
          <a:xfrm>
            <a:off x="3730752"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D5</a:t>
            </a:r>
            <a:endParaRPr lang="en-US" sz="1400" dirty="0"/>
          </a:p>
        </p:txBody>
      </p:sp>
      <p:sp>
        <p:nvSpPr>
          <p:cNvPr id="14" name="Text 12"/>
          <p:cNvSpPr txBox="1"/>
          <p:nvPr/>
        </p:nvSpPr>
        <p:spPr>
          <a:xfrm>
            <a:off x="4526280"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D6</a:t>
            </a:r>
            <a:endParaRPr lang="en-US" sz="1400" dirty="0"/>
          </a:p>
        </p:txBody>
      </p:sp>
      <p:sp>
        <p:nvSpPr>
          <p:cNvPr id="15" name="Text 13"/>
          <p:cNvSpPr txBox="1"/>
          <p:nvPr/>
        </p:nvSpPr>
        <p:spPr>
          <a:xfrm>
            <a:off x="5321808" y="3566160"/>
            <a:ext cx="713232" cy="822960"/>
          </a:xfrm>
          <a:prstGeom prst="roundRect">
            <a:avLst>
              <a:gd name="adj" fmla="val 10256"/>
            </a:avLst>
          </a:prstGeom>
          <a:solidFill>
            <a:schemeClr val="accent5">
              <a:alpha val="20000"/>
            </a:schemeClr>
          </a:solidFill>
          <a:ln/>
        </p:spPr>
        <p:txBody>
          <a:bodyPr wrap="square" lIns="762" tIns="762" rIns="762" bIns="762" rtlCol="0" anchor="ctr"/>
          <a:lstStyle/>
          <a:p>
            <a:pPr algn="ctr" indent="0" marL="0">
              <a:buNone/>
            </a:pPr>
            <a:r>
              <a:rPr lang="en-US" sz="1400" b="1" dirty="0">
                <a:solidFill>
                  <a:schemeClr val="accent5"/>
                </a:solidFill>
              </a:rPr>
              <a:t>D7</a:t>
            </a:r>
            <a:endParaRPr lang="en-US" sz="1400" dirty="0"/>
          </a:p>
        </p:txBody>
      </p:sp>
      <p:sp>
        <p:nvSpPr>
          <p:cNvPr id="16" name="Text 14"/>
          <p:cNvSpPr txBox="1"/>
          <p:nvPr/>
        </p:nvSpPr>
        <p:spPr>
          <a:xfrm>
            <a:off x="6117336"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D8</a:t>
            </a:r>
            <a:endParaRPr lang="en-US" sz="1400" dirty="0"/>
          </a:p>
        </p:txBody>
      </p:sp>
      <p:sp>
        <p:nvSpPr>
          <p:cNvPr id="17" name="Text 15"/>
          <p:cNvSpPr txBox="1"/>
          <p:nvPr/>
        </p:nvSpPr>
        <p:spPr>
          <a:xfrm>
            <a:off x="6912864"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D9</a:t>
            </a:r>
            <a:endParaRPr lang="en-US" sz="1400" dirty="0"/>
          </a:p>
        </p:txBody>
      </p:sp>
      <p:sp>
        <p:nvSpPr>
          <p:cNvPr id="18" name="Text 16"/>
          <p:cNvSpPr txBox="1"/>
          <p:nvPr/>
        </p:nvSpPr>
        <p:spPr>
          <a:xfrm>
            <a:off x="7708392"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D10</a:t>
            </a:r>
            <a:endParaRPr lang="en-US" sz="1400" dirty="0"/>
          </a:p>
        </p:txBody>
      </p:sp>
      <p:sp>
        <p:nvSpPr>
          <p:cNvPr id="19" name="Text 17"/>
          <p:cNvSpPr txBox="1"/>
          <p:nvPr/>
        </p:nvSpPr>
        <p:spPr>
          <a:xfrm>
            <a:off x="8503920"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D11</a:t>
            </a:r>
            <a:endParaRPr lang="en-US" sz="1400" dirty="0"/>
          </a:p>
        </p:txBody>
      </p:sp>
      <p:sp>
        <p:nvSpPr>
          <p:cNvPr id="20" name="Text 18"/>
          <p:cNvSpPr txBox="1"/>
          <p:nvPr/>
        </p:nvSpPr>
        <p:spPr>
          <a:xfrm>
            <a:off x="9299448"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D12</a:t>
            </a:r>
            <a:endParaRPr lang="en-US" sz="1400" dirty="0"/>
          </a:p>
        </p:txBody>
      </p:sp>
      <p:sp>
        <p:nvSpPr>
          <p:cNvPr id="21" name="Text 19"/>
          <p:cNvSpPr txBox="1"/>
          <p:nvPr/>
        </p:nvSpPr>
        <p:spPr>
          <a:xfrm>
            <a:off x="10094976" y="3566160"/>
            <a:ext cx="713232" cy="822960"/>
          </a:xfrm>
          <a:prstGeom prst="roundRect">
            <a:avLst>
              <a:gd name="adj" fmla="val 10256"/>
            </a:avLst>
          </a:prstGeom>
          <a:solidFill>
            <a:schemeClr val="accent1">
              <a:alpha val="25000"/>
            </a:schemeClr>
          </a:solidFill>
          <a:ln/>
        </p:spPr>
        <p:txBody>
          <a:bodyPr wrap="square" lIns="762" tIns="762" rIns="762" bIns="762" rtlCol="0" anchor="ctr"/>
          <a:lstStyle/>
          <a:p>
            <a:pPr algn="ctr" indent="0" marL="0">
              <a:buNone/>
            </a:pPr>
            <a:r>
              <a:rPr lang="en-US" sz="1400" b="1" dirty="0">
                <a:solidFill>
                  <a:schemeClr val="accent1"/>
                </a:solidFill>
              </a:rPr>
              <a:t>D13</a:t>
            </a:r>
            <a:endParaRPr lang="en-US" sz="1400" dirty="0"/>
          </a:p>
        </p:txBody>
      </p:sp>
      <p:sp>
        <p:nvSpPr>
          <p:cNvPr id="22" name="Text 20"/>
          <p:cNvSpPr txBox="1"/>
          <p:nvPr/>
        </p:nvSpPr>
        <p:spPr>
          <a:xfrm>
            <a:off x="10890504" y="3566160"/>
            <a:ext cx="713232" cy="822960"/>
          </a:xfrm>
          <a:prstGeom prst="roundRect">
            <a:avLst>
              <a:gd name="adj" fmla="val 10256"/>
            </a:avLst>
          </a:prstGeom>
          <a:solidFill>
            <a:schemeClr val="accent5">
              <a:alpha val="20000"/>
            </a:schemeClr>
          </a:solidFill>
          <a:ln/>
        </p:spPr>
        <p:txBody>
          <a:bodyPr wrap="square" lIns="762" tIns="762" rIns="762" bIns="762" rtlCol="0" anchor="ctr"/>
          <a:lstStyle/>
          <a:p>
            <a:pPr algn="ctr" indent="0" marL="0">
              <a:buNone/>
            </a:pPr>
            <a:r>
              <a:rPr lang="en-US" sz="1400" b="1" dirty="0">
                <a:solidFill>
                  <a:schemeClr val="accent5"/>
                </a:solidFill>
              </a:rPr>
              <a:t>D14</a:t>
            </a:r>
            <a:endParaRPr lang="en-US" sz="1400" dirty="0"/>
          </a:p>
        </p:txBody>
      </p:sp>
      <p:sp>
        <p:nvSpPr>
          <p:cNvPr id="23" name="Text 21"/>
          <p:cNvSpPr txBox="1"/>
          <p:nvPr/>
        </p:nvSpPr>
        <p:spPr>
          <a:xfrm>
            <a:off x="548640" y="4480560"/>
            <a:ext cx="7315200" cy="274320"/>
          </a:xfrm>
          <a:prstGeom prst="rect">
            <a:avLst/>
          </a:prstGeom>
          <a:noFill/>
          <a:ln/>
        </p:spPr>
        <p:txBody>
          <a:bodyPr wrap="square" lIns="0" tIns="0" rIns="0" bIns="0" rtlCol="0" anchor="t"/>
          <a:lstStyle/>
          <a:p>
            <a:pPr indent="0" marL="0">
              <a:buNone/>
            </a:pPr>
            <a:r>
              <a:rPr lang="en-US" sz="1200" dirty="0">
                <a:solidFill>
                  <a:schemeClr val="accent5"/>
                </a:solidFill>
              </a:rPr>
              <a:t>Grey days are weekly off-days with no slots generated.</a:t>
            </a:r>
            <a:endParaRPr lang="en-US" sz="1200" dirty="0"/>
          </a:p>
        </p:txBody>
      </p:sp>
      <p:sp>
        <p:nvSpPr>
          <p:cNvPr id="24" name="Shape 22"/>
          <p:cNvSpPr/>
          <p:nvPr/>
        </p:nvSpPr>
        <p:spPr>
          <a:xfrm>
            <a:off x="548640" y="4892040"/>
            <a:ext cx="11064240" cy="1234440"/>
          </a:xfrm>
          <a:prstGeom prst="roundRect">
            <a:avLst>
              <a:gd name="adj" fmla="val 7407"/>
            </a:avLst>
          </a:prstGeom>
          <a:solidFill>
            <a:schemeClr val="bg2"/>
          </a:solidFill>
          <a:ln/>
        </p:spPr>
      </p:sp>
      <p:sp>
        <p:nvSpPr>
          <p:cNvPr id="25" name="Text 23"/>
          <p:cNvSpPr txBox="1"/>
          <p:nvPr/>
        </p:nvSpPr>
        <p:spPr>
          <a:xfrm>
            <a:off x="777240" y="5093208"/>
            <a:ext cx="1060704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Collision-proof by index</a:t>
            </a:r>
            <a:endParaRPr lang="en-US" sz="1600" dirty="0"/>
          </a:p>
        </p:txBody>
      </p:sp>
      <p:sp>
        <p:nvSpPr>
          <p:cNvPr id="26" name="Text 24"/>
          <p:cNvSpPr txBox="1"/>
          <p:nvPr/>
        </p:nvSpPr>
        <p:spPr>
          <a:xfrm>
            <a:off x="777240" y="5577840"/>
            <a:ext cx="10607040" cy="365760"/>
          </a:xfrm>
          <a:prstGeom prst="rect">
            <a:avLst/>
          </a:prstGeom>
          <a:noFill/>
          <a:ln/>
        </p:spPr>
        <p:txBody>
          <a:bodyPr wrap="square" lIns="0" tIns="0" rIns="0" bIns="0" rtlCol="0" anchor="t"/>
          <a:lstStyle/>
          <a:p>
            <a:pPr indent="0" marL="0">
              <a:buNone/>
            </a:pPr>
            <a:r>
              <a:rPr lang="en-US" sz="1400" dirty="0">
                <a:solidFill>
                  <a:schemeClr val="tx2"/>
                </a:solidFill>
              </a:rPr>
              <a:t>A compound unique index on (doctorId, date, startTime) makes regeneration idempotent: duplicate slots cannot exist.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Administrative governance and audit trail</a:t>
            </a:r>
            <a:endParaRPr lang="en-US" sz="3400" dirty="0"/>
          </a:p>
        </p:txBody>
      </p:sp>
      <p:sp>
        <p:nvSpPr>
          <p:cNvPr id="3" name="Text 1"/>
          <p:cNvSpPr txBox="1"/>
          <p:nvPr/>
        </p:nvSpPr>
        <p:spPr>
          <a:xfrm>
            <a:off x="548640" y="1554480"/>
            <a:ext cx="2331720" cy="1097280"/>
          </a:xfrm>
          <a:prstGeom prst="roundRect">
            <a:avLst>
              <a:gd name="adj" fmla="val 6667"/>
            </a:avLst>
          </a:prstGeom>
          <a:solidFill>
            <a:schemeClr val="accent1"/>
          </a:solidFill>
          <a:ln/>
        </p:spPr>
        <p:txBody>
          <a:bodyPr wrap="square" lIns="762" tIns="762" rIns="762" bIns="762" rtlCol="0" anchor="ctr"/>
          <a:lstStyle/>
          <a:p>
            <a:pPr algn="ctr" indent="0" marL="0">
              <a:buNone/>
            </a:pPr>
            <a:r>
              <a:rPr lang="en-US" sz="1600" b="1" dirty="0">
                <a:solidFill>
                  <a:schemeClr val="bg1"/>
                </a:solidFill>
              </a:rPr>
              <a:t>Doctor registers</a:t>
            </a:r>
            <a:endParaRPr lang="en-US" sz="1600" dirty="0"/>
          </a:p>
        </p:txBody>
      </p:sp>
      <p:sp>
        <p:nvSpPr>
          <p:cNvPr id="4" name="Shape 2"/>
          <p:cNvSpPr/>
          <p:nvPr/>
        </p:nvSpPr>
        <p:spPr>
          <a:xfrm>
            <a:off x="2880360" y="2103120"/>
            <a:ext cx="585216" cy="0"/>
          </a:xfrm>
          <a:prstGeom prst="line">
            <a:avLst/>
          </a:prstGeom>
          <a:noFill/>
          <a:ln w="25400">
            <a:solidFill>
              <a:schemeClr val="accent5"/>
            </a:solidFill>
            <a:prstDash val="solid"/>
            <a:tailEnd type="triangle"/>
          </a:ln>
        </p:spPr>
      </p:sp>
      <p:sp>
        <p:nvSpPr>
          <p:cNvPr id="5" name="Text 3"/>
          <p:cNvSpPr txBox="1"/>
          <p:nvPr/>
        </p:nvSpPr>
        <p:spPr>
          <a:xfrm>
            <a:off x="3465576" y="1554480"/>
            <a:ext cx="2331720" cy="1097280"/>
          </a:xfrm>
          <a:prstGeom prst="roundRect">
            <a:avLst>
              <a:gd name="adj" fmla="val 6667"/>
            </a:avLst>
          </a:prstGeom>
          <a:solidFill>
            <a:schemeClr val="accent3"/>
          </a:solidFill>
          <a:ln/>
        </p:spPr>
        <p:txBody>
          <a:bodyPr wrap="square" lIns="762" tIns="762" rIns="762" bIns="762" rtlCol="0" anchor="ctr"/>
          <a:lstStyle/>
          <a:p>
            <a:pPr algn="ctr" indent="0" marL="0">
              <a:buNone/>
            </a:pPr>
            <a:r>
              <a:rPr lang="en-US" sz="1600" b="1" dirty="0">
                <a:solidFill>
                  <a:schemeClr val="bg1"/>
                </a:solidFill>
              </a:rPr>
              <a:t>Pending queue</a:t>
            </a:r>
            <a:endParaRPr lang="en-US" sz="1600" dirty="0"/>
          </a:p>
        </p:txBody>
      </p:sp>
      <p:sp>
        <p:nvSpPr>
          <p:cNvPr id="6" name="Shape 4"/>
          <p:cNvSpPr/>
          <p:nvPr/>
        </p:nvSpPr>
        <p:spPr>
          <a:xfrm>
            <a:off x="5797296" y="2103120"/>
            <a:ext cx="585216" cy="0"/>
          </a:xfrm>
          <a:prstGeom prst="line">
            <a:avLst/>
          </a:prstGeom>
          <a:noFill/>
          <a:ln w="25400">
            <a:solidFill>
              <a:schemeClr val="accent5"/>
            </a:solidFill>
            <a:prstDash val="solid"/>
            <a:tailEnd type="triangle"/>
          </a:ln>
        </p:spPr>
      </p:sp>
      <p:sp>
        <p:nvSpPr>
          <p:cNvPr id="7" name="Text 5"/>
          <p:cNvSpPr txBox="1"/>
          <p:nvPr/>
        </p:nvSpPr>
        <p:spPr>
          <a:xfrm>
            <a:off x="6382512" y="1554480"/>
            <a:ext cx="2331720" cy="1097280"/>
          </a:xfrm>
          <a:prstGeom prst="roundRect">
            <a:avLst>
              <a:gd name="adj" fmla="val 6667"/>
            </a:avLst>
          </a:prstGeom>
          <a:solidFill>
            <a:schemeClr val="tx1"/>
          </a:solidFill>
          <a:ln/>
        </p:spPr>
        <p:txBody>
          <a:bodyPr wrap="square" lIns="762" tIns="762" rIns="762" bIns="762" rtlCol="0" anchor="ctr"/>
          <a:lstStyle/>
          <a:p>
            <a:pPr algn="ctr" indent="0" marL="0">
              <a:buNone/>
            </a:pPr>
            <a:r>
              <a:rPr lang="en-US" sz="1600" b="1" dirty="0">
                <a:solidFill>
                  <a:schemeClr val="bg1"/>
                </a:solidFill>
              </a:rPr>
              <a:t>Admin review</a:t>
            </a:r>
            <a:endParaRPr lang="en-US" sz="1600" dirty="0"/>
          </a:p>
        </p:txBody>
      </p:sp>
      <p:sp>
        <p:nvSpPr>
          <p:cNvPr id="8" name="Shape 6"/>
          <p:cNvSpPr/>
          <p:nvPr/>
        </p:nvSpPr>
        <p:spPr>
          <a:xfrm>
            <a:off x="8714232" y="2103120"/>
            <a:ext cx="585216" cy="0"/>
          </a:xfrm>
          <a:prstGeom prst="line">
            <a:avLst/>
          </a:prstGeom>
          <a:noFill/>
          <a:ln w="25400">
            <a:solidFill>
              <a:schemeClr val="accent5"/>
            </a:solidFill>
            <a:prstDash val="solid"/>
            <a:tailEnd type="triangle"/>
          </a:ln>
        </p:spPr>
      </p:sp>
      <p:sp>
        <p:nvSpPr>
          <p:cNvPr id="9" name="Text 7"/>
          <p:cNvSpPr txBox="1"/>
          <p:nvPr/>
        </p:nvSpPr>
        <p:spPr>
          <a:xfrm>
            <a:off x="9299448" y="1554480"/>
            <a:ext cx="2331720" cy="1097280"/>
          </a:xfrm>
          <a:prstGeom prst="roundRect">
            <a:avLst>
              <a:gd name="adj" fmla="val 6667"/>
            </a:avLst>
          </a:prstGeom>
          <a:solidFill>
            <a:schemeClr val="accent2"/>
          </a:solidFill>
          <a:ln/>
        </p:spPr>
        <p:txBody>
          <a:bodyPr wrap="square" lIns="762" tIns="762" rIns="762" bIns="762" rtlCol="0" anchor="ctr"/>
          <a:lstStyle/>
          <a:p>
            <a:pPr algn="ctr" indent="0" marL="0">
              <a:buNone/>
            </a:pPr>
            <a:r>
              <a:rPr lang="en-US" sz="1600" b="1" dirty="0">
                <a:solidFill>
                  <a:schemeClr val="tx1"/>
                </a:solidFill>
              </a:rPr>
              <a:t>Verified and bookable</a:t>
            </a:r>
            <a:endParaRPr lang="en-US" sz="1600" dirty="0"/>
          </a:p>
        </p:txBody>
      </p:sp>
      <p:sp>
        <p:nvSpPr>
          <p:cNvPr id="10" name="Text 8"/>
          <p:cNvSpPr txBox="1"/>
          <p:nvPr/>
        </p:nvSpPr>
        <p:spPr>
          <a:xfrm>
            <a:off x="548640" y="2834640"/>
            <a:ext cx="7315200" cy="274320"/>
          </a:xfrm>
          <a:prstGeom prst="rect">
            <a:avLst/>
          </a:prstGeom>
          <a:noFill/>
          <a:ln/>
        </p:spPr>
        <p:txBody>
          <a:bodyPr wrap="square" lIns="0" tIns="0" rIns="0" bIns="0" rtlCol="0" anchor="t"/>
          <a:lstStyle/>
          <a:p>
            <a:pPr indent="0" marL="0">
              <a:buNone/>
            </a:pPr>
            <a:r>
              <a:rPr lang="en-US" sz="1200" dirty="0">
                <a:solidFill>
                  <a:schemeClr val="accent5"/>
                </a:solidFill>
              </a:rPr>
              <a:t>Rejected applications never reach the booking pool.</a:t>
            </a:r>
            <a:endParaRPr lang="en-US" sz="1200" dirty="0"/>
          </a:p>
        </p:txBody>
      </p:sp>
      <p:sp>
        <p:nvSpPr>
          <p:cNvPr id="11" name="Shape 9"/>
          <p:cNvSpPr/>
          <p:nvPr/>
        </p:nvSpPr>
        <p:spPr>
          <a:xfrm>
            <a:off x="548640" y="3383280"/>
            <a:ext cx="5440680" cy="2651760"/>
          </a:xfrm>
          <a:prstGeom prst="roundRect">
            <a:avLst>
              <a:gd name="adj" fmla="val 3448"/>
            </a:avLst>
          </a:prstGeom>
          <a:solidFill>
            <a:schemeClr val="bg2"/>
          </a:solidFill>
          <a:ln/>
        </p:spPr>
      </p:sp>
      <p:sp>
        <p:nvSpPr>
          <p:cNvPr id="12" name="Text 10"/>
          <p:cNvSpPr txBox="1"/>
          <p:nvPr/>
        </p:nvSpPr>
        <p:spPr>
          <a:xfrm>
            <a:off x="777240" y="3584448"/>
            <a:ext cx="498348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User moderation</a:t>
            </a:r>
            <a:endParaRPr lang="en-US" sz="1700" dirty="0"/>
          </a:p>
        </p:txBody>
      </p:sp>
      <p:sp>
        <p:nvSpPr>
          <p:cNvPr id="13" name="Text 11"/>
          <p:cNvSpPr txBox="1"/>
          <p:nvPr/>
        </p:nvSpPr>
        <p:spPr>
          <a:xfrm>
            <a:off x="777240" y="4069080"/>
            <a:ext cx="4983480" cy="1783080"/>
          </a:xfrm>
          <a:prstGeom prst="rect">
            <a:avLst/>
          </a:prstGeom>
          <a:noFill/>
          <a:ln/>
        </p:spPr>
        <p:txBody>
          <a:bodyPr wrap="square" lIns="0" tIns="0" rIns="0" bIns="0" rtlCol="0" anchor="t"/>
          <a:lstStyle/>
          <a:p>
            <a:pPr indent="0" marL="0">
              <a:buNone/>
            </a:pPr>
            <a:r>
              <a:rPr lang="en-US" sz="1400" dirty="0">
                <a:solidFill>
                  <a:schemeClr val="tx2"/>
                </a:solidFill>
              </a:rPr>
              <a:t>Administrators can suspend or reactivate any account, so abusive or compromised users are cut off without deleting history.</a:t>
            </a:r>
            <a:endParaRPr lang="en-US" sz="1400" dirty="0"/>
          </a:p>
        </p:txBody>
      </p:sp>
      <p:sp>
        <p:nvSpPr>
          <p:cNvPr id="14" name="Shape 12"/>
          <p:cNvSpPr/>
          <p:nvPr/>
        </p:nvSpPr>
        <p:spPr>
          <a:xfrm>
            <a:off x="6172200" y="3383280"/>
            <a:ext cx="5440680" cy="2651760"/>
          </a:xfrm>
          <a:prstGeom prst="roundRect">
            <a:avLst>
              <a:gd name="adj" fmla="val 3448"/>
            </a:avLst>
          </a:prstGeom>
          <a:solidFill>
            <a:schemeClr val="bg2"/>
          </a:solidFill>
          <a:ln/>
        </p:spPr>
      </p:sp>
      <p:sp>
        <p:nvSpPr>
          <p:cNvPr id="15" name="Text 13"/>
          <p:cNvSpPr txBox="1"/>
          <p:nvPr/>
        </p:nvSpPr>
        <p:spPr>
          <a:xfrm>
            <a:off x="6400800" y="3584448"/>
            <a:ext cx="498348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Immutable audit log</a:t>
            </a:r>
            <a:endParaRPr lang="en-US" sz="1700" dirty="0"/>
          </a:p>
        </p:txBody>
      </p:sp>
      <p:sp>
        <p:nvSpPr>
          <p:cNvPr id="16" name="Text 14"/>
          <p:cNvSpPr txBox="1"/>
          <p:nvPr/>
        </p:nvSpPr>
        <p:spPr>
          <a:xfrm>
            <a:off x="6400800" y="4069080"/>
            <a:ext cx="4983480" cy="1783080"/>
          </a:xfrm>
          <a:prstGeom prst="rect">
            <a:avLst/>
          </a:prstGeom>
          <a:noFill/>
          <a:ln/>
        </p:spPr>
        <p:txBody>
          <a:bodyPr wrap="square" lIns="0" tIns="0" rIns="0" bIns="0" rtlCol="0" anchor="t"/>
          <a:lstStyle/>
          <a:p>
            <a:pPr indent="0" marL="0">
              <a:buNone/>
            </a:pPr>
            <a:r>
              <a:rPr lang="en-US" sz="1400" dirty="0">
                <a:solidFill>
                  <a:schemeClr val="tx2"/>
                </a:solidFill>
              </a:rPr>
              <a:t>Every administrative action is recorded with actor, action, target and timestamp, and cannot be edited afterwards.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Python FastAPI intelligence service</a:t>
            </a:r>
            <a:endParaRPr lang="en-US" sz="3400" dirty="0"/>
          </a:p>
        </p:txBody>
      </p:sp>
      <p:sp>
        <p:nvSpPr>
          <p:cNvPr id="3" name="Shape 1"/>
          <p:cNvSpPr/>
          <p:nvPr/>
        </p:nvSpPr>
        <p:spPr>
          <a:xfrm>
            <a:off x="548640" y="1554480"/>
            <a:ext cx="3566160" cy="4480560"/>
          </a:xfrm>
          <a:prstGeom prst="roundRect">
            <a:avLst>
              <a:gd name="adj" fmla="val 2564"/>
            </a:avLst>
          </a:prstGeom>
          <a:solidFill>
            <a:schemeClr val="bg2"/>
          </a:solidFill>
          <a:ln/>
        </p:spPr>
      </p:sp>
      <p:sp>
        <p:nvSpPr>
          <p:cNvPr id="4" name="Text 2"/>
          <p:cNvSpPr txBox="1"/>
          <p:nvPr/>
        </p:nvSpPr>
        <p:spPr>
          <a:xfrm>
            <a:off x="777240" y="1755648"/>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Urgency triage</a:t>
            </a:r>
            <a:endParaRPr lang="en-US" sz="1700" dirty="0"/>
          </a:p>
        </p:txBody>
      </p:sp>
      <p:sp>
        <p:nvSpPr>
          <p:cNvPr id="5" name="Text 3"/>
          <p:cNvSpPr txBox="1"/>
          <p:nvPr/>
        </p:nvSpPr>
        <p:spPr>
          <a:xfrm>
            <a:off x="777240" y="2240280"/>
            <a:ext cx="3108960" cy="3611880"/>
          </a:xfrm>
          <a:prstGeom prst="rect">
            <a:avLst/>
          </a:prstGeom>
          <a:noFill/>
          <a:ln/>
        </p:spPr>
        <p:txBody>
          <a:bodyPr wrap="square" lIns="0" tIns="0" rIns="0" bIns="0" rtlCol="0" anchor="t"/>
          <a:lstStyle/>
          <a:p>
            <a:pPr indent="0" marL="0">
              <a:buNone/>
            </a:pPr>
            <a:r>
              <a:rPr lang="en-US" sz="1400" dirty="0">
                <a:solidFill>
                  <a:schemeClr val="tx2"/>
                </a:solidFill>
              </a:rPr>
              <a:t>Scores symptoms and assigns a clinical priority.</a:t>
            </a:r>
            <a:endParaRPr lang="en-US" sz="1400" dirty="0"/>
          </a:p>
        </p:txBody>
      </p:sp>
      <p:sp>
        <p:nvSpPr>
          <p:cNvPr id="6" name="Text 4"/>
          <p:cNvSpPr txBox="1"/>
          <p:nvPr/>
        </p:nvSpPr>
        <p:spPr>
          <a:xfrm>
            <a:off x="777240" y="2743200"/>
            <a:ext cx="3108960" cy="640080"/>
          </a:xfrm>
          <a:prstGeom prst="roundRect">
            <a:avLst>
              <a:gd name="adj" fmla="val 11429"/>
            </a:avLst>
          </a:prstGeom>
          <a:solidFill>
            <a:schemeClr val="accent4"/>
          </a:solidFill>
          <a:ln/>
        </p:spPr>
        <p:txBody>
          <a:bodyPr wrap="square" lIns="762" tIns="762" rIns="762" bIns="762" rtlCol="0" anchor="ctr"/>
          <a:lstStyle/>
          <a:p>
            <a:pPr algn="ctr" indent="0" marL="0">
              <a:buNone/>
            </a:pPr>
            <a:r>
              <a:rPr lang="en-US" sz="1600" b="1" dirty="0">
                <a:solidFill>
                  <a:schemeClr val="bg1"/>
                </a:solidFill>
              </a:rPr>
              <a:t>EMERGENCY</a:t>
            </a:r>
            <a:endParaRPr lang="en-US" sz="1600" dirty="0"/>
          </a:p>
        </p:txBody>
      </p:sp>
      <p:sp>
        <p:nvSpPr>
          <p:cNvPr id="7" name="Text 5"/>
          <p:cNvSpPr txBox="1"/>
          <p:nvPr/>
        </p:nvSpPr>
        <p:spPr>
          <a:xfrm>
            <a:off x="777240" y="3611880"/>
            <a:ext cx="3108960" cy="640080"/>
          </a:xfrm>
          <a:prstGeom prst="roundRect">
            <a:avLst>
              <a:gd name="adj" fmla="val 11429"/>
            </a:avLst>
          </a:prstGeom>
          <a:solidFill>
            <a:schemeClr val="accent3"/>
          </a:solidFill>
          <a:ln/>
        </p:spPr>
        <p:txBody>
          <a:bodyPr wrap="square" lIns="762" tIns="762" rIns="762" bIns="762" rtlCol="0" anchor="ctr"/>
          <a:lstStyle/>
          <a:p>
            <a:pPr algn="ctr" indent="0" marL="0">
              <a:buNone/>
            </a:pPr>
            <a:r>
              <a:rPr lang="en-US" sz="1600" b="1" dirty="0">
                <a:solidFill>
                  <a:schemeClr val="bg1"/>
                </a:solidFill>
              </a:rPr>
              <a:t>URGENT</a:t>
            </a:r>
            <a:endParaRPr lang="en-US" sz="1600" dirty="0"/>
          </a:p>
        </p:txBody>
      </p:sp>
      <p:sp>
        <p:nvSpPr>
          <p:cNvPr id="8" name="Text 6"/>
          <p:cNvSpPr txBox="1"/>
          <p:nvPr/>
        </p:nvSpPr>
        <p:spPr>
          <a:xfrm>
            <a:off x="777240" y="4480560"/>
            <a:ext cx="3108960" cy="640080"/>
          </a:xfrm>
          <a:prstGeom prst="roundRect">
            <a:avLst>
              <a:gd name="adj" fmla="val 11429"/>
            </a:avLst>
          </a:prstGeom>
          <a:solidFill>
            <a:schemeClr val="accent2"/>
          </a:solidFill>
          <a:ln/>
        </p:spPr>
        <p:txBody>
          <a:bodyPr wrap="square" lIns="762" tIns="762" rIns="762" bIns="762" rtlCol="0" anchor="ctr"/>
          <a:lstStyle/>
          <a:p>
            <a:pPr algn="ctr" indent="0" marL="0">
              <a:buNone/>
            </a:pPr>
            <a:r>
              <a:rPr lang="en-US" sz="1600" b="1" dirty="0">
                <a:solidFill>
                  <a:schemeClr val="bg1"/>
                </a:solidFill>
              </a:rPr>
              <a:t>ROUTINE</a:t>
            </a:r>
            <a:endParaRPr lang="en-US" sz="1600" dirty="0"/>
          </a:p>
        </p:txBody>
      </p:sp>
      <p:sp>
        <p:nvSpPr>
          <p:cNvPr id="9" name="Shape 7"/>
          <p:cNvSpPr/>
          <p:nvPr/>
        </p:nvSpPr>
        <p:spPr>
          <a:xfrm>
            <a:off x="4297680" y="1554480"/>
            <a:ext cx="3566160" cy="4480560"/>
          </a:xfrm>
          <a:prstGeom prst="roundRect">
            <a:avLst>
              <a:gd name="adj" fmla="val 2564"/>
            </a:avLst>
          </a:prstGeom>
          <a:solidFill>
            <a:schemeClr val="bg2"/>
          </a:solidFill>
          <a:ln/>
        </p:spPr>
      </p:sp>
      <p:sp>
        <p:nvSpPr>
          <p:cNvPr id="10" name="Text 8"/>
          <p:cNvSpPr txBox="1"/>
          <p:nvPr/>
        </p:nvSpPr>
        <p:spPr>
          <a:xfrm>
            <a:off x="4526280" y="1755648"/>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Wait-time forecast</a:t>
            </a:r>
            <a:endParaRPr lang="en-US" sz="1700" dirty="0"/>
          </a:p>
        </p:txBody>
      </p:sp>
      <p:sp>
        <p:nvSpPr>
          <p:cNvPr id="11" name="Text 9"/>
          <p:cNvSpPr txBox="1"/>
          <p:nvPr/>
        </p:nvSpPr>
        <p:spPr>
          <a:xfrm>
            <a:off x="4526280" y="2240280"/>
            <a:ext cx="3108960" cy="3611880"/>
          </a:xfrm>
          <a:prstGeom prst="rect">
            <a:avLst/>
          </a:prstGeom>
          <a:noFill/>
          <a:ln/>
        </p:spPr>
        <p:txBody>
          <a:bodyPr wrap="square" lIns="0" tIns="0" rIns="0" bIns="0" rtlCol="0" anchor="t"/>
          <a:lstStyle/>
          <a:p>
            <a:pPr indent="0" marL="0">
              <a:buNone/>
            </a:pPr>
            <a:r>
              <a:rPr lang="en-US" sz="1400" dirty="0">
                <a:solidFill>
                  <a:schemeClr val="tx2"/>
                </a:solidFill>
              </a:rPr>
              <a:t>Estimates clinic waiting time from the day's queue so patients can plan their arrival and doctors can spot overload early.</a:t>
            </a:r>
            <a:endParaRPr lang="en-US" sz="1400" dirty="0"/>
          </a:p>
        </p:txBody>
      </p:sp>
      <p:sp>
        <p:nvSpPr>
          <p:cNvPr id="12" name="Shape 10"/>
          <p:cNvSpPr/>
          <p:nvPr/>
        </p:nvSpPr>
        <p:spPr>
          <a:xfrm>
            <a:off x="8046720" y="1554480"/>
            <a:ext cx="3566160" cy="4480560"/>
          </a:xfrm>
          <a:prstGeom prst="roundRect">
            <a:avLst>
              <a:gd name="adj" fmla="val 2564"/>
            </a:avLst>
          </a:prstGeom>
          <a:solidFill>
            <a:schemeClr val="bg2"/>
          </a:solidFill>
          <a:ln/>
        </p:spPr>
      </p:sp>
      <p:sp>
        <p:nvSpPr>
          <p:cNvPr id="13" name="Text 11"/>
          <p:cNvSpPr txBox="1"/>
          <p:nvPr/>
        </p:nvSpPr>
        <p:spPr>
          <a:xfrm>
            <a:off x="8275320" y="1755648"/>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Reminder dispatcher</a:t>
            </a:r>
            <a:endParaRPr lang="en-US" sz="1700" dirty="0"/>
          </a:p>
        </p:txBody>
      </p:sp>
      <p:sp>
        <p:nvSpPr>
          <p:cNvPr id="14" name="Text 12"/>
          <p:cNvSpPr txBox="1"/>
          <p:nvPr/>
        </p:nvSpPr>
        <p:spPr>
          <a:xfrm>
            <a:off x="8275320" y="2240280"/>
            <a:ext cx="3108960" cy="3611880"/>
          </a:xfrm>
          <a:prstGeom prst="rect">
            <a:avLst/>
          </a:prstGeom>
          <a:noFill/>
          <a:ln/>
        </p:spPr>
        <p:txBody>
          <a:bodyPr wrap="square" lIns="0" tIns="0" rIns="0" bIns="0" rtlCol="0" anchor="t"/>
          <a:lstStyle/>
          <a:p>
            <a:pPr indent="0" marL="0">
              <a:buNone/>
            </a:pPr>
            <a:r>
              <a:rPr lang="en-US" sz="1400" dirty="0">
                <a:solidFill>
                  <a:schemeClr val="tx2"/>
                </a:solidFill>
              </a:rPr>
              <a:t>Sends appointment reminders ahead of time to cut the 25%+ no-show rate and free capacity for other patients.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Database schema and indexing</a:t>
            </a:r>
            <a:endParaRPr lang="en-US" sz="3400" dirty="0"/>
          </a:p>
        </p:txBody>
      </p:sp>
      <p:sp>
        <p:nvSpPr>
          <p:cNvPr id="3" name="Shape 1"/>
          <p:cNvSpPr/>
          <p:nvPr/>
        </p:nvSpPr>
        <p:spPr>
          <a:xfrm>
            <a:off x="548640" y="1463040"/>
            <a:ext cx="2560320" cy="1920240"/>
          </a:xfrm>
          <a:prstGeom prst="roundRect">
            <a:avLst>
              <a:gd name="adj" fmla="val 3810"/>
            </a:avLst>
          </a:prstGeom>
          <a:solidFill>
            <a:schemeClr val="bg2"/>
          </a:solidFill>
          <a:ln w="19050">
            <a:solidFill>
              <a:schemeClr val="accent1"/>
            </a:solidFill>
            <a:prstDash val="solid"/>
          </a:ln>
        </p:spPr>
      </p:sp>
      <p:sp>
        <p:nvSpPr>
          <p:cNvPr id="4" name="Text 2"/>
          <p:cNvSpPr txBox="1"/>
          <p:nvPr/>
        </p:nvSpPr>
        <p:spPr>
          <a:xfrm>
            <a:off x="548640" y="1463040"/>
            <a:ext cx="2560320" cy="457200"/>
          </a:xfrm>
          <a:prstGeom prst="roundRect">
            <a:avLst>
              <a:gd name="adj" fmla="val 16000"/>
            </a:avLst>
          </a:prstGeom>
          <a:solidFill>
            <a:schemeClr val="accent1"/>
          </a:solidFill>
          <a:ln/>
        </p:spPr>
        <p:txBody>
          <a:bodyPr wrap="square" lIns="762" tIns="762" rIns="762" bIns="762" rtlCol="0" anchor="ctr"/>
          <a:lstStyle/>
          <a:p>
            <a:pPr algn="ctr" indent="0" marL="0">
              <a:buNone/>
            </a:pPr>
            <a:r>
              <a:rPr lang="en-US" sz="1400" b="1" dirty="0">
                <a:solidFill>
                  <a:schemeClr val="bg1"/>
                </a:solidFill>
              </a:rPr>
              <a:t>USER</a:t>
            </a:r>
            <a:endParaRPr lang="en-US" sz="1400" dirty="0"/>
          </a:p>
        </p:txBody>
      </p:sp>
      <p:sp>
        <p:nvSpPr>
          <p:cNvPr id="5" name="Text 3"/>
          <p:cNvSpPr txBox="1"/>
          <p:nvPr/>
        </p:nvSpPr>
        <p:spPr>
          <a:xfrm>
            <a:off x="731520" y="2057400"/>
            <a:ext cx="2194560" cy="1234440"/>
          </a:xfrm>
          <a:prstGeom prst="rect">
            <a:avLst/>
          </a:prstGeom>
          <a:noFill/>
          <a:ln/>
        </p:spPr>
        <p:txBody>
          <a:bodyPr wrap="square" lIns="0" tIns="0" rIns="0" bIns="0" rtlCol="0" anchor="t"/>
          <a:lstStyle/>
          <a:p>
            <a:pPr indent="0" marL="0">
              <a:buNone/>
            </a:pPr>
            <a:r>
              <a:rPr lang="en-US" sz="1300" dirty="0">
                <a:solidFill>
                  <a:schemeClr val="tx2"/>
                </a:solidFill>
              </a:rPr>
              <a:t>name · email</a:t>
            </a:r>
            <a:endParaRPr lang="en-US" sz="1300" dirty="0"/>
          </a:p>
          <a:p>
            <a:pPr indent="0" marL="0">
              <a:buNone/>
            </a:pPr>
            <a:r>
              <a:rPr lang="en-US" sz="1300" dirty="0">
                <a:solidFill>
                  <a:schemeClr val="tx2"/>
                </a:solidFill>
              </a:rPr>
              <a:t>passwordHash (bcrypt)</a:t>
            </a:r>
            <a:endParaRPr lang="en-US" sz="1300" dirty="0"/>
          </a:p>
          <a:p>
            <a:pPr indent="0" marL="0">
              <a:buNone/>
            </a:pPr>
            <a:r>
              <a:rPr lang="en-US" sz="1300" dirty="0">
                <a:solidFill>
                  <a:schemeClr val="tx2"/>
                </a:solidFill>
              </a:rPr>
              <a:t>role · status</a:t>
            </a:r>
            <a:endParaRPr lang="en-US" sz="1300" dirty="0"/>
          </a:p>
        </p:txBody>
      </p:sp>
      <p:sp>
        <p:nvSpPr>
          <p:cNvPr id="6" name="Shape 4"/>
          <p:cNvSpPr/>
          <p:nvPr/>
        </p:nvSpPr>
        <p:spPr>
          <a:xfrm>
            <a:off x="4818888" y="1463040"/>
            <a:ext cx="2560320" cy="1920240"/>
          </a:xfrm>
          <a:prstGeom prst="roundRect">
            <a:avLst>
              <a:gd name="adj" fmla="val 3810"/>
            </a:avLst>
          </a:prstGeom>
          <a:solidFill>
            <a:schemeClr val="bg2"/>
          </a:solidFill>
          <a:ln w="19050">
            <a:solidFill>
              <a:schemeClr val="accent1"/>
            </a:solidFill>
            <a:prstDash val="solid"/>
          </a:ln>
        </p:spPr>
      </p:sp>
      <p:sp>
        <p:nvSpPr>
          <p:cNvPr id="7" name="Text 5"/>
          <p:cNvSpPr txBox="1"/>
          <p:nvPr/>
        </p:nvSpPr>
        <p:spPr>
          <a:xfrm>
            <a:off x="4818888" y="1463040"/>
            <a:ext cx="2560320" cy="457200"/>
          </a:xfrm>
          <a:prstGeom prst="roundRect">
            <a:avLst>
              <a:gd name="adj" fmla="val 16000"/>
            </a:avLst>
          </a:prstGeom>
          <a:solidFill>
            <a:schemeClr val="accent1"/>
          </a:solidFill>
          <a:ln/>
        </p:spPr>
        <p:txBody>
          <a:bodyPr wrap="square" lIns="762" tIns="762" rIns="762" bIns="762" rtlCol="0" anchor="ctr"/>
          <a:lstStyle/>
          <a:p>
            <a:pPr algn="ctr" indent="0" marL="0">
              <a:buNone/>
            </a:pPr>
            <a:r>
              <a:rPr lang="en-US" sz="1400" b="1" dirty="0">
                <a:solidFill>
                  <a:schemeClr val="bg1"/>
                </a:solidFill>
              </a:rPr>
              <a:t>DOCTOR</a:t>
            </a:r>
            <a:endParaRPr lang="en-US" sz="1400" dirty="0"/>
          </a:p>
        </p:txBody>
      </p:sp>
      <p:sp>
        <p:nvSpPr>
          <p:cNvPr id="8" name="Text 6"/>
          <p:cNvSpPr txBox="1"/>
          <p:nvPr/>
        </p:nvSpPr>
        <p:spPr>
          <a:xfrm>
            <a:off x="5001768" y="2057400"/>
            <a:ext cx="2194560" cy="1234440"/>
          </a:xfrm>
          <a:prstGeom prst="rect">
            <a:avLst/>
          </a:prstGeom>
          <a:noFill/>
          <a:ln/>
        </p:spPr>
        <p:txBody>
          <a:bodyPr wrap="square" lIns="0" tIns="0" rIns="0" bIns="0" rtlCol="0" anchor="t"/>
          <a:lstStyle/>
          <a:p>
            <a:pPr indent="0" marL="0">
              <a:buNone/>
            </a:pPr>
            <a:r>
              <a:rPr lang="en-US" sz="1300" dirty="0">
                <a:solidFill>
                  <a:schemeClr val="tx2"/>
                </a:solidFill>
              </a:rPr>
              <a:t>userId · specialization</a:t>
            </a:r>
            <a:endParaRPr lang="en-US" sz="1300" dirty="0"/>
          </a:p>
          <a:p>
            <a:pPr indent="0" marL="0">
              <a:buNone/>
            </a:pPr>
            <a:r>
              <a:rPr lang="en-US" sz="1300" dirty="0">
                <a:solidFill>
                  <a:schemeClr val="tx2"/>
                </a:solidFill>
              </a:rPr>
              <a:t>consultationFee</a:t>
            </a:r>
            <a:endParaRPr lang="en-US" sz="1300" dirty="0"/>
          </a:p>
          <a:p>
            <a:pPr indent="0" marL="0">
              <a:buNone/>
            </a:pPr>
            <a:r>
              <a:rPr lang="en-US" sz="1300" dirty="0">
                <a:solidFill>
                  <a:schemeClr val="tx2"/>
                </a:solidFill>
              </a:rPr>
              <a:t>verified · weekly rules</a:t>
            </a:r>
            <a:endParaRPr lang="en-US" sz="1300" dirty="0"/>
          </a:p>
        </p:txBody>
      </p:sp>
      <p:sp>
        <p:nvSpPr>
          <p:cNvPr id="9" name="Shape 7"/>
          <p:cNvSpPr/>
          <p:nvPr/>
        </p:nvSpPr>
        <p:spPr>
          <a:xfrm>
            <a:off x="9079992" y="1463040"/>
            <a:ext cx="2560320" cy="1920240"/>
          </a:xfrm>
          <a:prstGeom prst="roundRect">
            <a:avLst>
              <a:gd name="adj" fmla="val 3810"/>
            </a:avLst>
          </a:prstGeom>
          <a:solidFill>
            <a:schemeClr val="bg2"/>
          </a:solidFill>
          <a:ln w="19050">
            <a:solidFill>
              <a:schemeClr val="accent2"/>
            </a:solidFill>
            <a:prstDash val="solid"/>
          </a:ln>
        </p:spPr>
      </p:sp>
      <p:sp>
        <p:nvSpPr>
          <p:cNvPr id="10" name="Text 8"/>
          <p:cNvSpPr txBox="1"/>
          <p:nvPr/>
        </p:nvSpPr>
        <p:spPr>
          <a:xfrm>
            <a:off x="9079992" y="1463040"/>
            <a:ext cx="2560320" cy="457200"/>
          </a:xfrm>
          <a:prstGeom prst="roundRect">
            <a:avLst>
              <a:gd name="adj" fmla="val 16000"/>
            </a:avLst>
          </a:prstGeom>
          <a:solidFill>
            <a:schemeClr val="accent2"/>
          </a:solidFill>
          <a:ln/>
        </p:spPr>
        <p:txBody>
          <a:bodyPr wrap="square" lIns="762" tIns="762" rIns="762" bIns="762" rtlCol="0" anchor="ctr"/>
          <a:lstStyle/>
          <a:p>
            <a:pPr algn="ctr" indent="0" marL="0">
              <a:buNone/>
            </a:pPr>
            <a:r>
              <a:rPr lang="en-US" sz="1400" b="1" dirty="0">
                <a:solidFill>
                  <a:schemeClr val="bg1"/>
                </a:solidFill>
              </a:rPr>
              <a:t>SLOT</a:t>
            </a:r>
            <a:endParaRPr lang="en-US" sz="1400" dirty="0"/>
          </a:p>
        </p:txBody>
      </p:sp>
      <p:sp>
        <p:nvSpPr>
          <p:cNvPr id="11" name="Text 9"/>
          <p:cNvSpPr txBox="1"/>
          <p:nvPr/>
        </p:nvSpPr>
        <p:spPr>
          <a:xfrm>
            <a:off x="9262872" y="2057400"/>
            <a:ext cx="2194560" cy="1234440"/>
          </a:xfrm>
          <a:prstGeom prst="rect">
            <a:avLst/>
          </a:prstGeom>
          <a:noFill/>
          <a:ln/>
        </p:spPr>
        <p:txBody>
          <a:bodyPr wrap="square" lIns="0" tIns="0" rIns="0" bIns="0" rtlCol="0" anchor="t"/>
          <a:lstStyle/>
          <a:p>
            <a:pPr indent="0" marL="0">
              <a:buNone/>
            </a:pPr>
            <a:r>
              <a:rPr lang="en-US" sz="1300" dirty="0">
                <a:solidFill>
                  <a:schemeClr val="tx2"/>
                </a:solidFill>
              </a:rPr>
              <a:t>doctorId · date</a:t>
            </a:r>
            <a:endParaRPr lang="en-US" sz="1300" dirty="0"/>
          </a:p>
          <a:p>
            <a:pPr indent="0" marL="0">
              <a:buNone/>
            </a:pPr>
            <a:r>
              <a:rPr lang="en-US" sz="1300" dirty="0">
                <a:solidFill>
                  <a:schemeClr val="tx2"/>
                </a:solidFill>
              </a:rPr>
              <a:t>startTime · status</a:t>
            </a:r>
            <a:endParaRPr lang="en-US" sz="1300" dirty="0"/>
          </a:p>
        </p:txBody>
      </p:sp>
      <p:sp>
        <p:nvSpPr>
          <p:cNvPr id="12" name="Shape 10"/>
          <p:cNvSpPr/>
          <p:nvPr/>
        </p:nvSpPr>
        <p:spPr>
          <a:xfrm>
            <a:off x="548640" y="4206240"/>
            <a:ext cx="2560320" cy="1920240"/>
          </a:xfrm>
          <a:prstGeom prst="roundRect">
            <a:avLst>
              <a:gd name="adj" fmla="val 3810"/>
            </a:avLst>
          </a:prstGeom>
          <a:solidFill>
            <a:schemeClr val="bg2"/>
          </a:solidFill>
          <a:ln w="19050">
            <a:solidFill>
              <a:schemeClr val="accent5"/>
            </a:solidFill>
            <a:prstDash val="solid"/>
          </a:ln>
        </p:spPr>
      </p:sp>
      <p:sp>
        <p:nvSpPr>
          <p:cNvPr id="13" name="Text 11"/>
          <p:cNvSpPr txBox="1"/>
          <p:nvPr/>
        </p:nvSpPr>
        <p:spPr>
          <a:xfrm>
            <a:off x="548640" y="4206240"/>
            <a:ext cx="2560320" cy="457200"/>
          </a:xfrm>
          <a:prstGeom prst="roundRect">
            <a:avLst>
              <a:gd name="adj" fmla="val 16000"/>
            </a:avLst>
          </a:prstGeom>
          <a:solidFill>
            <a:schemeClr val="accent5"/>
          </a:solidFill>
          <a:ln/>
        </p:spPr>
        <p:txBody>
          <a:bodyPr wrap="square" lIns="762" tIns="762" rIns="762" bIns="762" rtlCol="0" anchor="ctr"/>
          <a:lstStyle/>
          <a:p>
            <a:pPr algn="ctr" indent="0" marL="0">
              <a:buNone/>
            </a:pPr>
            <a:r>
              <a:rPr lang="en-US" sz="1400" b="1" dirty="0">
                <a:solidFill>
                  <a:schemeClr val="bg1"/>
                </a:solidFill>
              </a:rPr>
              <a:t>AUDIT LOG</a:t>
            </a:r>
            <a:endParaRPr lang="en-US" sz="1400" dirty="0"/>
          </a:p>
        </p:txBody>
      </p:sp>
      <p:sp>
        <p:nvSpPr>
          <p:cNvPr id="14" name="Text 12"/>
          <p:cNvSpPr txBox="1"/>
          <p:nvPr/>
        </p:nvSpPr>
        <p:spPr>
          <a:xfrm>
            <a:off x="731520" y="4800600"/>
            <a:ext cx="2194560" cy="1234440"/>
          </a:xfrm>
          <a:prstGeom prst="rect">
            <a:avLst/>
          </a:prstGeom>
          <a:noFill/>
          <a:ln/>
        </p:spPr>
        <p:txBody>
          <a:bodyPr wrap="square" lIns="0" tIns="0" rIns="0" bIns="0" rtlCol="0" anchor="t"/>
          <a:lstStyle/>
          <a:p>
            <a:pPr indent="0" marL="0">
              <a:buNone/>
            </a:pPr>
            <a:r>
              <a:rPr lang="en-US" sz="1300" dirty="0">
                <a:solidFill>
                  <a:schemeClr val="tx2"/>
                </a:solidFill>
              </a:rPr>
              <a:t>actorId · action</a:t>
            </a:r>
            <a:endParaRPr lang="en-US" sz="1300" dirty="0"/>
          </a:p>
          <a:p>
            <a:pPr indent="0" marL="0">
              <a:buNone/>
            </a:pPr>
            <a:r>
              <a:rPr lang="en-US" sz="1300" dirty="0">
                <a:solidFill>
                  <a:schemeClr val="tx2"/>
                </a:solidFill>
              </a:rPr>
              <a:t>target · timestamp</a:t>
            </a:r>
            <a:endParaRPr lang="en-US" sz="1300" dirty="0"/>
          </a:p>
        </p:txBody>
      </p:sp>
      <p:sp>
        <p:nvSpPr>
          <p:cNvPr id="15" name="Shape 13"/>
          <p:cNvSpPr/>
          <p:nvPr/>
        </p:nvSpPr>
        <p:spPr>
          <a:xfrm>
            <a:off x="9079992" y="4206240"/>
            <a:ext cx="2560320" cy="1920240"/>
          </a:xfrm>
          <a:prstGeom prst="roundRect">
            <a:avLst>
              <a:gd name="adj" fmla="val 3810"/>
            </a:avLst>
          </a:prstGeom>
          <a:solidFill>
            <a:schemeClr val="bg2"/>
          </a:solidFill>
          <a:ln w="19050">
            <a:solidFill>
              <a:schemeClr val="accent6"/>
            </a:solidFill>
            <a:prstDash val="solid"/>
          </a:ln>
        </p:spPr>
      </p:sp>
      <p:sp>
        <p:nvSpPr>
          <p:cNvPr id="16" name="Text 14"/>
          <p:cNvSpPr txBox="1"/>
          <p:nvPr/>
        </p:nvSpPr>
        <p:spPr>
          <a:xfrm>
            <a:off x="9079992" y="4206240"/>
            <a:ext cx="2560320" cy="457200"/>
          </a:xfrm>
          <a:prstGeom prst="roundRect">
            <a:avLst>
              <a:gd name="adj" fmla="val 16000"/>
            </a:avLst>
          </a:prstGeom>
          <a:solidFill>
            <a:schemeClr val="accent6"/>
          </a:solidFill>
          <a:ln/>
        </p:spPr>
        <p:txBody>
          <a:bodyPr wrap="square" lIns="762" tIns="762" rIns="762" bIns="762" rtlCol="0" anchor="ctr"/>
          <a:lstStyle/>
          <a:p>
            <a:pPr algn="ctr" indent="0" marL="0">
              <a:buNone/>
            </a:pPr>
            <a:r>
              <a:rPr lang="en-US" sz="1400" b="1" dirty="0">
                <a:solidFill>
                  <a:schemeClr val="bg1"/>
                </a:solidFill>
              </a:rPr>
              <a:t>APPOINTMENT</a:t>
            </a:r>
            <a:endParaRPr lang="en-US" sz="1400" dirty="0"/>
          </a:p>
        </p:txBody>
      </p:sp>
      <p:sp>
        <p:nvSpPr>
          <p:cNvPr id="17" name="Text 15"/>
          <p:cNvSpPr txBox="1"/>
          <p:nvPr/>
        </p:nvSpPr>
        <p:spPr>
          <a:xfrm>
            <a:off x="9262872" y="4800600"/>
            <a:ext cx="2194560" cy="1234440"/>
          </a:xfrm>
          <a:prstGeom prst="rect">
            <a:avLst/>
          </a:prstGeom>
          <a:noFill/>
          <a:ln/>
        </p:spPr>
        <p:txBody>
          <a:bodyPr wrap="square" lIns="0" tIns="0" rIns="0" bIns="0" rtlCol="0" anchor="t"/>
          <a:lstStyle/>
          <a:p>
            <a:pPr indent="0" marL="0">
              <a:buNone/>
            </a:pPr>
            <a:r>
              <a:rPr lang="en-US" sz="1300" dirty="0">
                <a:solidFill>
                  <a:schemeClr val="tx2"/>
                </a:solidFill>
              </a:rPr>
              <a:t>patientId · doctorId</a:t>
            </a:r>
            <a:endParaRPr lang="en-US" sz="1300" dirty="0"/>
          </a:p>
          <a:p>
            <a:pPr indent="0" marL="0">
              <a:buNone/>
            </a:pPr>
            <a:r>
              <a:rPr lang="en-US" sz="1300" dirty="0">
                <a:solidFill>
                  <a:schemeClr val="tx2"/>
                </a:solidFill>
              </a:rPr>
              <a:t>slotId · status · urgency</a:t>
            </a:r>
            <a:endParaRPr lang="en-US" sz="1300" dirty="0"/>
          </a:p>
        </p:txBody>
      </p:sp>
      <p:sp>
        <p:nvSpPr>
          <p:cNvPr id="18" name="Shape 16"/>
          <p:cNvSpPr/>
          <p:nvPr/>
        </p:nvSpPr>
        <p:spPr>
          <a:xfrm>
            <a:off x="3108960" y="2423160"/>
            <a:ext cx="1709928" cy="0"/>
          </a:xfrm>
          <a:prstGeom prst="line">
            <a:avLst/>
          </a:prstGeom>
          <a:noFill/>
          <a:ln w="25400">
            <a:solidFill>
              <a:schemeClr val="accent5"/>
            </a:solidFill>
            <a:prstDash val="solid"/>
            <a:tailEnd type="triangle"/>
          </a:ln>
        </p:spPr>
      </p:sp>
      <p:sp>
        <p:nvSpPr>
          <p:cNvPr id="19" name="Shape 17"/>
          <p:cNvSpPr/>
          <p:nvPr/>
        </p:nvSpPr>
        <p:spPr>
          <a:xfrm>
            <a:off x="7379208" y="2423160"/>
            <a:ext cx="1700784" cy="0"/>
          </a:xfrm>
          <a:prstGeom prst="line">
            <a:avLst/>
          </a:prstGeom>
          <a:noFill/>
          <a:ln w="25400">
            <a:solidFill>
              <a:schemeClr val="accent5"/>
            </a:solidFill>
            <a:prstDash val="solid"/>
            <a:tailEnd type="triangle"/>
          </a:ln>
        </p:spPr>
      </p:sp>
      <p:sp>
        <p:nvSpPr>
          <p:cNvPr id="20" name="Shape 18"/>
          <p:cNvSpPr/>
          <p:nvPr/>
        </p:nvSpPr>
        <p:spPr>
          <a:xfrm>
            <a:off x="1737360" y="3383280"/>
            <a:ext cx="0" cy="822960"/>
          </a:xfrm>
          <a:prstGeom prst="line">
            <a:avLst/>
          </a:prstGeom>
          <a:noFill/>
          <a:ln w="25400">
            <a:solidFill>
              <a:schemeClr val="accent5"/>
            </a:solidFill>
            <a:prstDash val="solid"/>
            <a:tailEnd type="triangle"/>
          </a:ln>
        </p:spPr>
      </p:sp>
      <p:sp>
        <p:nvSpPr>
          <p:cNvPr id="21" name="Shape 19"/>
          <p:cNvSpPr/>
          <p:nvPr/>
        </p:nvSpPr>
        <p:spPr>
          <a:xfrm>
            <a:off x="10360152" y="3383280"/>
            <a:ext cx="0" cy="822960"/>
          </a:xfrm>
          <a:prstGeom prst="line">
            <a:avLst/>
          </a:prstGeom>
          <a:noFill/>
          <a:ln w="25400">
            <a:solidFill>
              <a:schemeClr val="accent5"/>
            </a:solidFill>
            <a:prstDash val="solid"/>
            <a:tailEnd type="triangle"/>
          </a:ln>
        </p:spPr>
      </p:sp>
      <p:sp>
        <p:nvSpPr>
          <p:cNvPr id="22" name="Text 20"/>
          <p:cNvSpPr txBox="1"/>
          <p:nvPr/>
        </p:nvSpPr>
        <p:spPr>
          <a:xfrm>
            <a:off x="3566160" y="2103120"/>
            <a:ext cx="822960" cy="274320"/>
          </a:xfrm>
          <a:prstGeom prst="rect">
            <a:avLst/>
          </a:prstGeom>
          <a:noFill/>
          <a:ln/>
        </p:spPr>
        <p:txBody>
          <a:bodyPr wrap="square" lIns="0" tIns="0" rIns="0" bIns="0" rtlCol="0" anchor="t"/>
          <a:lstStyle/>
          <a:p>
            <a:pPr algn="ctr" indent="0" marL="0">
              <a:buNone/>
            </a:pPr>
            <a:r>
              <a:rPr lang="en-US" sz="1200" dirty="0">
                <a:solidFill>
                  <a:schemeClr val="accent5"/>
                </a:solidFill>
              </a:rPr>
              <a:t>1 : 1</a:t>
            </a:r>
            <a:endParaRPr lang="en-US" sz="1200" dirty="0"/>
          </a:p>
        </p:txBody>
      </p:sp>
      <p:sp>
        <p:nvSpPr>
          <p:cNvPr id="23" name="Text 21"/>
          <p:cNvSpPr txBox="1"/>
          <p:nvPr/>
        </p:nvSpPr>
        <p:spPr>
          <a:xfrm>
            <a:off x="7772400" y="2103120"/>
            <a:ext cx="822960" cy="274320"/>
          </a:xfrm>
          <a:prstGeom prst="rect">
            <a:avLst/>
          </a:prstGeom>
          <a:noFill/>
          <a:ln/>
        </p:spPr>
        <p:txBody>
          <a:bodyPr wrap="square" lIns="0" tIns="0" rIns="0" bIns="0" rtlCol="0" anchor="t"/>
          <a:lstStyle/>
          <a:p>
            <a:pPr algn="ctr" indent="0" marL="0">
              <a:buNone/>
            </a:pPr>
            <a:r>
              <a:rPr lang="en-US" sz="1200" dirty="0">
                <a:solidFill>
                  <a:schemeClr val="accent5"/>
                </a:solidFill>
              </a:rPr>
              <a:t>1 : N</a:t>
            </a:r>
            <a:endParaRPr lang="en-US" sz="1200" dirty="0"/>
          </a:p>
        </p:txBody>
      </p:sp>
      <p:sp>
        <p:nvSpPr>
          <p:cNvPr id="24" name="Shape 22"/>
          <p:cNvSpPr/>
          <p:nvPr/>
        </p:nvSpPr>
        <p:spPr>
          <a:xfrm>
            <a:off x="4818888" y="4206240"/>
            <a:ext cx="2560320" cy="1920240"/>
          </a:xfrm>
          <a:prstGeom prst="roundRect">
            <a:avLst>
              <a:gd name="adj" fmla="val 4762"/>
            </a:avLst>
          </a:prstGeom>
          <a:solidFill>
            <a:schemeClr val="bg2"/>
          </a:solidFill>
          <a:ln/>
        </p:spPr>
      </p:sp>
      <p:sp>
        <p:nvSpPr>
          <p:cNvPr id="25" name="Text 23"/>
          <p:cNvSpPr txBox="1"/>
          <p:nvPr/>
        </p:nvSpPr>
        <p:spPr>
          <a:xfrm>
            <a:off x="5047488" y="4407408"/>
            <a:ext cx="2103120" cy="36576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Key indexes</a:t>
            </a:r>
            <a:endParaRPr lang="en-US" sz="1500" dirty="0"/>
          </a:p>
        </p:txBody>
      </p:sp>
      <p:sp>
        <p:nvSpPr>
          <p:cNvPr id="26" name="Text 24"/>
          <p:cNvSpPr txBox="1"/>
          <p:nvPr/>
        </p:nvSpPr>
        <p:spPr>
          <a:xfrm>
            <a:off x="5047488" y="4892040"/>
            <a:ext cx="2103120" cy="1051560"/>
          </a:xfrm>
          <a:prstGeom prst="rect">
            <a:avLst/>
          </a:prstGeom>
          <a:noFill/>
          <a:ln/>
        </p:spPr>
        <p:txBody>
          <a:bodyPr wrap="square" lIns="0" tIns="0" rIns="0" bIns="0" rtlCol="0" anchor="t"/>
          <a:lstStyle/>
          <a:p>
            <a:pPr indent="0" marL="0">
              <a:buNone/>
            </a:pPr>
            <a:r>
              <a:rPr lang="en-US" sz="1400" dirty="0">
                <a:solidFill>
                  <a:schemeClr val="tx2"/>
                </a:solidFill>
              </a:rPr>
              <a:t>Compound unique:</a:t>
            </a:r>
            <a:endParaRPr lang="en-US" sz="1400" dirty="0"/>
          </a:p>
          <a:p>
            <a:pPr indent="0" marL="0">
              <a:buNone/>
            </a:pPr>
            <a:r>
              <a:rPr lang="en-US" sz="1400" dirty="0">
                <a:solidFill>
                  <a:schemeClr val="tx2"/>
                </a:solidFill>
              </a:rPr>
              <a:t>(doctorId, date, startTime)</a:t>
            </a:r>
            <a:endParaRPr lang="en-US" sz="1400" dirty="0"/>
          </a:p>
          <a:p>
            <a:pPr indent="0" marL="0">
              <a:buNone/>
            </a:pPr>
            <a:r>
              <a:rPr lang="en-US" sz="1400" dirty="0">
                <a:solidFill>
                  <a:schemeClr val="tx2"/>
                </a:solidFill>
              </a:rPr>
              <a:t>Partial unique:</a:t>
            </a:r>
            <a:endParaRPr lang="en-US" sz="1400" dirty="0"/>
          </a:p>
          <a:p>
            <a:pPr indent="0" marL="0">
              <a:buNone/>
            </a:pPr>
            <a:r>
              <a:rPr lang="en-US" sz="1400" dirty="0">
                <a:solidFill>
                  <a:schemeClr val="tx2"/>
                </a:solidFill>
              </a:rPr>
              <a:t>slotId on active bookings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Security hardening (OWASP-aligned)</a:t>
            </a:r>
            <a:endParaRPr lang="en-US" sz="3400" dirty="0"/>
          </a:p>
        </p:txBody>
      </p:sp>
      <p:sp>
        <p:nvSpPr>
          <p:cNvPr id="3" name="Shape 1"/>
          <p:cNvSpPr/>
          <p:nvPr/>
        </p:nvSpPr>
        <p:spPr>
          <a:xfrm>
            <a:off x="548640" y="1463040"/>
            <a:ext cx="3566160" cy="2240280"/>
          </a:xfrm>
          <a:prstGeom prst="roundRect">
            <a:avLst>
              <a:gd name="adj" fmla="val 4082"/>
            </a:avLst>
          </a:prstGeom>
          <a:solidFill>
            <a:schemeClr val="bg2"/>
          </a:solidFill>
          <a:ln/>
        </p:spPr>
      </p:sp>
      <p:sp>
        <p:nvSpPr>
          <p:cNvPr id="4" name="Text 2"/>
          <p:cNvSpPr txBox="1"/>
          <p:nvPr/>
        </p:nvSpPr>
        <p:spPr>
          <a:xfrm>
            <a:off x="777240" y="169164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371600" y="1737360"/>
            <a:ext cx="2560320" cy="36576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Helmet.js</a:t>
            </a:r>
            <a:endParaRPr lang="en-US" sz="1700" dirty="0"/>
          </a:p>
        </p:txBody>
      </p:sp>
      <p:sp>
        <p:nvSpPr>
          <p:cNvPr id="6" name="Text 4"/>
          <p:cNvSpPr txBox="1"/>
          <p:nvPr/>
        </p:nvSpPr>
        <p:spPr>
          <a:xfrm>
            <a:off x="777240" y="2377440"/>
            <a:ext cx="3108960" cy="1188720"/>
          </a:xfrm>
          <a:prstGeom prst="rect">
            <a:avLst/>
          </a:prstGeom>
          <a:noFill/>
          <a:ln/>
        </p:spPr>
        <p:txBody>
          <a:bodyPr wrap="square" lIns="0" tIns="0" rIns="0" bIns="0" rtlCol="0" anchor="t"/>
          <a:lstStyle/>
          <a:p>
            <a:pPr indent="0" marL="0">
              <a:buNone/>
            </a:pPr>
            <a:r>
              <a:rPr lang="en-US" sz="1400" dirty="0">
                <a:solidFill>
                  <a:schemeClr val="tx2"/>
                </a:solidFill>
              </a:rPr>
              <a:t>Secure HTTP headers against clickjacking, sniffing and XSS.</a:t>
            </a:r>
            <a:endParaRPr lang="en-US" sz="1400" dirty="0"/>
          </a:p>
        </p:txBody>
      </p:sp>
      <p:sp>
        <p:nvSpPr>
          <p:cNvPr id="7" name="Shape 5"/>
          <p:cNvSpPr/>
          <p:nvPr/>
        </p:nvSpPr>
        <p:spPr>
          <a:xfrm>
            <a:off x="4297680" y="1463040"/>
            <a:ext cx="3566160" cy="2240280"/>
          </a:xfrm>
          <a:prstGeom prst="roundRect">
            <a:avLst>
              <a:gd name="adj" fmla="val 4082"/>
            </a:avLst>
          </a:prstGeom>
          <a:solidFill>
            <a:schemeClr val="bg2"/>
          </a:solidFill>
          <a:ln/>
        </p:spPr>
      </p:sp>
      <p:sp>
        <p:nvSpPr>
          <p:cNvPr id="8" name="Text 6"/>
          <p:cNvSpPr txBox="1"/>
          <p:nvPr/>
        </p:nvSpPr>
        <p:spPr>
          <a:xfrm>
            <a:off x="4526280" y="1691640"/>
            <a:ext cx="420624" cy="420624"/>
          </a:xfrm>
          <a:prstGeom prst="ellipse">
            <a:avLst/>
          </a:prstGeom>
          <a:solidFill>
            <a:schemeClr val="accent6"/>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5120640" y="1737360"/>
            <a:ext cx="2560320" cy="36576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bcryptjs, 10 rounds</a:t>
            </a:r>
            <a:endParaRPr lang="en-US" sz="1700" dirty="0"/>
          </a:p>
        </p:txBody>
      </p:sp>
      <p:sp>
        <p:nvSpPr>
          <p:cNvPr id="10" name="Text 8"/>
          <p:cNvSpPr txBox="1"/>
          <p:nvPr/>
        </p:nvSpPr>
        <p:spPr>
          <a:xfrm>
            <a:off x="4526280" y="2377440"/>
            <a:ext cx="3108960" cy="1188720"/>
          </a:xfrm>
          <a:prstGeom prst="rect">
            <a:avLst/>
          </a:prstGeom>
          <a:noFill/>
          <a:ln/>
        </p:spPr>
        <p:txBody>
          <a:bodyPr wrap="square" lIns="0" tIns="0" rIns="0" bIns="0" rtlCol="0" anchor="t"/>
          <a:lstStyle/>
          <a:p>
            <a:pPr indent="0" marL="0">
              <a:buNone/>
            </a:pPr>
            <a:r>
              <a:rPr lang="en-US" sz="1400" dirty="0">
                <a:solidFill>
                  <a:schemeClr val="tx2"/>
                </a:solidFill>
              </a:rPr>
              <a:t>Passwords are salted and hashed, never stored in plaintext.</a:t>
            </a:r>
            <a:endParaRPr lang="en-US" sz="1400" dirty="0"/>
          </a:p>
        </p:txBody>
      </p:sp>
      <p:sp>
        <p:nvSpPr>
          <p:cNvPr id="11" name="Shape 9"/>
          <p:cNvSpPr/>
          <p:nvPr/>
        </p:nvSpPr>
        <p:spPr>
          <a:xfrm>
            <a:off x="8046720" y="1463040"/>
            <a:ext cx="3566160" cy="2240280"/>
          </a:xfrm>
          <a:prstGeom prst="roundRect">
            <a:avLst>
              <a:gd name="adj" fmla="val 4082"/>
            </a:avLst>
          </a:prstGeom>
          <a:solidFill>
            <a:schemeClr val="bg2"/>
          </a:solidFill>
          <a:ln/>
        </p:spPr>
      </p:sp>
      <p:sp>
        <p:nvSpPr>
          <p:cNvPr id="12" name="Text 10"/>
          <p:cNvSpPr txBox="1"/>
          <p:nvPr/>
        </p:nvSpPr>
        <p:spPr>
          <a:xfrm>
            <a:off x="8275320" y="169164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8869680" y="1737360"/>
            <a:ext cx="2560320" cy="36576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Joi validation</a:t>
            </a:r>
            <a:endParaRPr lang="en-US" sz="1700" dirty="0"/>
          </a:p>
        </p:txBody>
      </p:sp>
      <p:sp>
        <p:nvSpPr>
          <p:cNvPr id="14" name="Text 12"/>
          <p:cNvSpPr txBox="1"/>
          <p:nvPr/>
        </p:nvSpPr>
        <p:spPr>
          <a:xfrm>
            <a:off x="8275320" y="2377440"/>
            <a:ext cx="3108960" cy="1188720"/>
          </a:xfrm>
          <a:prstGeom prst="rect">
            <a:avLst/>
          </a:prstGeom>
          <a:noFill/>
          <a:ln/>
        </p:spPr>
        <p:txBody>
          <a:bodyPr wrap="square" lIns="0" tIns="0" rIns="0" bIns="0" rtlCol="0" anchor="t"/>
          <a:lstStyle/>
          <a:p>
            <a:pPr indent="0" marL="0">
              <a:buNone/>
            </a:pPr>
            <a:r>
              <a:rPr lang="en-US" sz="1400" dirty="0">
                <a:solidFill>
                  <a:schemeClr val="tx2"/>
                </a:solidFill>
              </a:rPr>
              <a:t>Malformed or malicious input is rejected before any controller runs.</a:t>
            </a:r>
            <a:endParaRPr lang="en-US" sz="1400" dirty="0"/>
          </a:p>
        </p:txBody>
      </p:sp>
      <p:sp>
        <p:nvSpPr>
          <p:cNvPr id="15" name="Shape 13"/>
          <p:cNvSpPr/>
          <p:nvPr/>
        </p:nvSpPr>
        <p:spPr>
          <a:xfrm>
            <a:off x="548640" y="3931920"/>
            <a:ext cx="3566160" cy="2240280"/>
          </a:xfrm>
          <a:prstGeom prst="roundRect">
            <a:avLst>
              <a:gd name="adj" fmla="val 4082"/>
            </a:avLst>
          </a:prstGeom>
          <a:solidFill>
            <a:schemeClr val="bg2"/>
          </a:solidFill>
          <a:ln/>
        </p:spPr>
      </p:sp>
      <p:sp>
        <p:nvSpPr>
          <p:cNvPr id="16" name="Text 14"/>
          <p:cNvSpPr txBox="1"/>
          <p:nvPr/>
        </p:nvSpPr>
        <p:spPr>
          <a:xfrm>
            <a:off x="777240" y="4160520"/>
            <a:ext cx="420624" cy="420624"/>
          </a:xfrm>
          <a:prstGeom prst="ellipse">
            <a:avLst/>
          </a:prstGeom>
          <a:solidFill>
            <a:schemeClr val="accent6"/>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1371600" y="4206240"/>
            <a:ext cx="2560320" cy="36576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Rate limiting</a:t>
            </a:r>
            <a:endParaRPr lang="en-US" sz="1700" dirty="0"/>
          </a:p>
        </p:txBody>
      </p:sp>
      <p:sp>
        <p:nvSpPr>
          <p:cNvPr id="18" name="Text 16"/>
          <p:cNvSpPr txBox="1"/>
          <p:nvPr/>
        </p:nvSpPr>
        <p:spPr>
          <a:xfrm>
            <a:off x="777240" y="4846320"/>
            <a:ext cx="3108960" cy="1188720"/>
          </a:xfrm>
          <a:prstGeom prst="rect">
            <a:avLst/>
          </a:prstGeom>
          <a:noFill/>
          <a:ln/>
        </p:spPr>
        <p:txBody>
          <a:bodyPr wrap="square" lIns="0" tIns="0" rIns="0" bIns="0" rtlCol="0" anchor="t"/>
          <a:lstStyle/>
          <a:p>
            <a:pPr indent="0" marL="0">
              <a:buNone/>
            </a:pPr>
            <a:r>
              <a:rPr lang="en-US" sz="1400" dirty="0">
                <a:solidFill>
                  <a:schemeClr val="tx2"/>
                </a:solidFill>
              </a:rPr>
              <a:t>Throttles brute-force logins and API abuse.</a:t>
            </a:r>
            <a:endParaRPr lang="en-US" sz="1400" dirty="0"/>
          </a:p>
        </p:txBody>
      </p:sp>
      <p:sp>
        <p:nvSpPr>
          <p:cNvPr id="19" name="Shape 17"/>
          <p:cNvSpPr/>
          <p:nvPr/>
        </p:nvSpPr>
        <p:spPr>
          <a:xfrm>
            <a:off x="4297680" y="3931920"/>
            <a:ext cx="3566160" cy="2240280"/>
          </a:xfrm>
          <a:prstGeom prst="roundRect">
            <a:avLst>
              <a:gd name="adj" fmla="val 4082"/>
            </a:avLst>
          </a:prstGeom>
          <a:solidFill>
            <a:schemeClr val="bg2"/>
          </a:solidFill>
          <a:ln/>
        </p:spPr>
      </p:sp>
      <p:sp>
        <p:nvSpPr>
          <p:cNvPr id="20" name="Text 18"/>
          <p:cNvSpPr txBox="1"/>
          <p:nvPr/>
        </p:nvSpPr>
        <p:spPr>
          <a:xfrm>
            <a:off x="4526280" y="416052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 19"/>
          <p:cNvSpPr txBox="1"/>
          <p:nvPr/>
        </p:nvSpPr>
        <p:spPr>
          <a:xfrm>
            <a:off x="5120640" y="4206240"/>
            <a:ext cx="2560320" cy="36576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JWT authentication</a:t>
            </a:r>
            <a:endParaRPr lang="en-US" sz="1700" dirty="0"/>
          </a:p>
        </p:txBody>
      </p:sp>
      <p:sp>
        <p:nvSpPr>
          <p:cNvPr id="22" name="Text 20"/>
          <p:cNvSpPr txBox="1"/>
          <p:nvPr/>
        </p:nvSpPr>
        <p:spPr>
          <a:xfrm>
            <a:off x="4526280" y="4846320"/>
            <a:ext cx="3108960" cy="1188720"/>
          </a:xfrm>
          <a:prstGeom prst="rect">
            <a:avLst/>
          </a:prstGeom>
          <a:noFill/>
          <a:ln/>
        </p:spPr>
        <p:txBody>
          <a:bodyPr wrap="square" lIns="0" tIns="0" rIns="0" bIns="0" rtlCol="0" anchor="t"/>
          <a:lstStyle/>
          <a:p>
            <a:pPr indent="0" marL="0">
              <a:buNone/>
            </a:pPr>
            <a:r>
              <a:rPr lang="en-US" sz="1400" dirty="0">
                <a:solidFill>
                  <a:schemeClr val="tx2"/>
                </a:solidFill>
              </a:rPr>
              <a:t>Signed, expiring tokens identify every request.</a:t>
            </a:r>
            <a:endParaRPr lang="en-US" sz="1400" dirty="0"/>
          </a:p>
        </p:txBody>
      </p:sp>
      <p:sp>
        <p:nvSpPr>
          <p:cNvPr id="23" name="Shape 21"/>
          <p:cNvSpPr/>
          <p:nvPr/>
        </p:nvSpPr>
        <p:spPr>
          <a:xfrm>
            <a:off x="8046720" y="3931920"/>
            <a:ext cx="3566160" cy="2240280"/>
          </a:xfrm>
          <a:prstGeom prst="roundRect">
            <a:avLst>
              <a:gd name="adj" fmla="val 4082"/>
            </a:avLst>
          </a:prstGeom>
          <a:solidFill>
            <a:schemeClr val="bg2"/>
          </a:solidFill>
          <a:ln/>
        </p:spPr>
      </p:sp>
      <p:sp>
        <p:nvSpPr>
          <p:cNvPr id="24" name="Text 22"/>
          <p:cNvSpPr txBox="1"/>
          <p:nvPr/>
        </p:nvSpPr>
        <p:spPr>
          <a:xfrm>
            <a:off x="8275320" y="4160520"/>
            <a:ext cx="420624" cy="420624"/>
          </a:xfrm>
          <a:prstGeom prst="ellipse">
            <a:avLst/>
          </a:prstGeom>
          <a:solidFill>
            <a:schemeClr val="accent6"/>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5" name="Text 23"/>
          <p:cNvSpPr txBox="1"/>
          <p:nvPr/>
        </p:nvSpPr>
        <p:spPr>
          <a:xfrm>
            <a:off x="8869680" y="4206240"/>
            <a:ext cx="2560320" cy="36576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RBAC enforcement</a:t>
            </a:r>
            <a:endParaRPr lang="en-US" sz="1700" dirty="0"/>
          </a:p>
        </p:txBody>
      </p:sp>
      <p:sp>
        <p:nvSpPr>
          <p:cNvPr id="26" name="Text 24"/>
          <p:cNvSpPr txBox="1"/>
          <p:nvPr/>
        </p:nvSpPr>
        <p:spPr>
          <a:xfrm>
            <a:off x="8275320" y="4846320"/>
            <a:ext cx="3108960" cy="1188720"/>
          </a:xfrm>
          <a:prstGeom prst="rect">
            <a:avLst/>
          </a:prstGeom>
          <a:noFill/>
          <a:ln/>
        </p:spPr>
        <p:txBody>
          <a:bodyPr wrap="square" lIns="0" tIns="0" rIns="0" bIns="0" rtlCol="0" anchor="t"/>
          <a:lstStyle/>
          <a:p>
            <a:pPr indent="0" marL="0">
              <a:buNone/>
            </a:pPr>
            <a:r>
              <a:rPr lang="en-US" sz="1400" dirty="0">
                <a:solidFill>
                  <a:schemeClr val="tx2"/>
                </a:solidFill>
              </a:rPr>
              <a:t>Role checks return 403 on any privilege violation.</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Interactive Swagger OpenAPI 3.0 playground</a:t>
            </a:r>
            <a:endParaRPr lang="en-US" sz="3400" dirty="0"/>
          </a:p>
        </p:txBody>
      </p:sp>
      <p:sp>
        <p:nvSpPr>
          <p:cNvPr id="3" name="Shape 1"/>
          <p:cNvSpPr/>
          <p:nvPr/>
        </p:nvSpPr>
        <p:spPr>
          <a:xfrm>
            <a:off x="548640" y="1463040"/>
            <a:ext cx="7040880" cy="4480560"/>
          </a:xfrm>
          <a:prstGeom prst="roundRect">
            <a:avLst>
              <a:gd name="adj" fmla="val 2041"/>
            </a:avLst>
          </a:prstGeom>
          <a:solidFill>
            <a:schemeClr val="tx1"/>
          </a:solidFill>
          <a:ln/>
        </p:spPr>
      </p:sp>
      <p:sp>
        <p:nvSpPr>
          <p:cNvPr id="4" name="Shape 2"/>
          <p:cNvSpPr/>
          <p:nvPr/>
        </p:nvSpPr>
        <p:spPr>
          <a:xfrm>
            <a:off x="777240" y="1664208"/>
            <a:ext cx="164592" cy="164592"/>
          </a:xfrm>
          <a:prstGeom prst="ellipse">
            <a:avLst/>
          </a:prstGeom>
          <a:solidFill>
            <a:schemeClr val="accent4"/>
          </a:solidFill>
          <a:ln/>
        </p:spPr>
      </p:sp>
      <p:sp>
        <p:nvSpPr>
          <p:cNvPr id="5" name="Shape 3"/>
          <p:cNvSpPr/>
          <p:nvPr/>
        </p:nvSpPr>
        <p:spPr>
          <a:xfrm>
            <a:off x="1051560" y="1664208"/>
            <a:ext cx="164592" cy="164592"/>
          </a:xfrm>
          <a:prstGeom prst="ellipse">
            <a:avLst/>
          </a:prstGeom>
          <a:solidFill>
            <a:schemeClr val="accent3"/>
          </a:solidFill>
          <a:ln/>
        </p:spPr>
      </p:sp>
      <p:sp>
        <p:nvSpPr>
          <p:cNvPr id="6" name="Shape 4"/>
          <p:cNvSpPr/>
          <p:nvPr/>
        </p:nvSpPr>
        <p:spPr>
          <a:xfrm>
            <a:off x="1325880" y="1664208"/>
            <a:ext cx="164592" cy="164592"/>
          </a:xfrm>
          <a:prstGeom prst="ellipse">
            <a:avLst/>
          </a:prstGeom>
          <a:solidFill>
            <a:schemeClr val="accent2"/>
          </a:solidFill>
          <a:ln/>
        </p:spPr>
      </p:sp>
      <p:sp>
        <p:nvSpPr>
          <p:cNvPr id="7" name="Text 5"/>
          <p:cNvSpPr txBox="1"/>
          <p:nvPr/>
        </p:nvSpPr>
        <p:spPr>
          <a:xfrm>
            <a:off x="1828800" y="1591056"/>
            <a:ext cx="5394960" cy="310896"/>
          </a:xfrm>
          <a:prstGeom prst="roundRect">
            <a:avLst>
              <a:gd name="adj" fmla="val 23529"/>
            </a:avLst>
          </a:prstGeom>
          <a:solidFill>
            <a:schemeClr val="bg1">
              <a:alpha val="12000"/>
            </a:schemeClr>
          </a:solidFill>
          <a:ln/>
        </p:spPr>
        <p:txBody>
          <a:bodyPr wrap="square" lIns="762" tIns="762" rIns="762" bIns="762" rtlCol="0" anchor="ctr"/>
          <a:lstStyle/>
          <a:p>
            <a:pPr algn="ctr" indent="0" marL="0">
              <a:buNone/>
            </a:pPr>
            <a:r>
              <a:rPr lang="en-US" sz="1200" dirty="0">
                <a:solidFill>
                  <a:schemeClr val="bg1"/>
                </a:solidFill>
                <a:latin typeface="Courier New" pitchFamily="34" charset="0"/>
                <a:ea typeface="Courier New" pitchFamily="34" charset="-122"/>
                <a:cs typeface="Courier New" pitchFamily="34" charset="-120"/>
              </a:rPr>
              <a:t>localhost:5000/api/docs</a:t>
            </a:r>
            <a:endParaRPr lang="en-US" sz="1200" dirty="0"/>
          </a:p>
        </p:txBody>
      </p:sp>
      <p:sp>
        <p:nvSpPr>
          <p:cNvPr id="8" name="Text 6"/>
          <p:cNvSpPr txBox="1"/>
          <p:nvPr/>
        </p:nvSpPr>
        <p:spPr>
          <a:xfrm>
            <a:off x="777240" y="2148840"/>
            <a:ext cx="868680" cy="384048"/>
          </a:xfrm>
          <a:prstGeom prst="roundRect">
            <a:avLst>
              <a:gd name="adj" fmla="val 19048"/>
            </a:avLst>
          </a:prstGeom>
          <a:solidFill>
            <a:schemeClr val="accent1"/>
          </a:solidFill>
          <a:ln/>
        </p:spPr>
        <p:txBody>
          <a:bodyPr wrap="square" lIns="762" tIns="762" rIns="762" bIns="762" rtlCol="0" anchor="ctr"/>
          <a:lstStyle/>
          <a:p>
            <a:pPr algn="ctr" indent="0" marL="0">
              <a:buNone/>
            </a:pPr>
            <a:r>
              <a:rPr lang="en-US" sz="1200" b="1" dirty="0">
                <a:solidFill>
                  <a:schemeClr val="bg1"/>
                </a:solidFill>
              </a:rPr>
              <a:t>POST</a:t>
            </a:r>
            <a:endParaRPr lang="en-US" sz="1200" dirty="0"/>
          </a:p>
        </p:txBody>
      </p:sp>
      <p:sp>
        <p:nvSpPr>
          <p:cNvPr id="9" name="Text 7"/>
          <p:cNvSpPr txBox="1"/>
          <p:nvPr/>
        </p:nvSpPr>
        <p:spPr>
          <a:xfrm>
            <a:off x="1828800" y="2148840"/>
            <a:ext cx="5486400" cy="384048"/>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/api/auth/login</a:t>
            </a:r>
            <a:endParaRPr lang="en-US" sz="1300" dirty="0"/>
          </a:p>
        </p:txBody>
      </p:sp>
      <p:sp>
        <p:nvSpPr>
          <p:cNvPr id="10" name="Text 8"/>
          <p:cNvSpPr txBox="1"/>
          <p:nvPr/>
        </p:nvSpPr>
        <p:spPr>
          <a:xfrm>
            <a:off x="777240" y="2651760"/>
            <a:ext cx="868680" cy="384048"/>
          </a:xfrm>
          <a:prstGeom prst="roundRect">
            <a:avLst>
              <a:gd name="adj" fmla="val 19048"/>
            </a:avLst>
          </a:prstGeom>
          <a:solidFill>
            <a:schemeClr val="accent2"/>
          </a:solidFill>
          <a:ln/>
        </p:spPr>
        <p:txBody>
          <a:bodyPr wrap="square" lIns="762" tIns="762" rIns="762" bIns="762" rtlCol="0" anchor="ctr"/>
          <a:lstStyle/>
          <a:p>
            <a:pPr algn="ctr" indent="0" marL="0">
              <a:buNone/>
            </a:pPr>
            <a:r>
              <a:rPr lang="en-US" sz="1200" b="1" dirty="0">
                <a:solidFill>
                  <a:schemeClr val="bg1"/>
                </a:solidFill>
              </a:rPr>
              <a:t>GET</a:t>
            </a:r>
            <a:endParaRPr lang="en-US" sz="1200" dirty="0"/>
          </a:p>
        </p:txBody>
      </p:sp>
      <p:sp>
        <p:nvSpPr>
          <p:cNvPr id="11" name="Text 9"/>
          <p:cNvSpPr txBox="1"/>
          <p:nvPr/>
        </p:nvSpPr>
        <p:spPr>
          <a:xfrm>
            <a:off x="1828800" y="2651760"/>
            <a:ext cx="5486400" cy="384048"/>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/api/doctors</a:t>
            </a:r>
            <a:endParaRPr lang="en-US" sz="1300" dirty="0"/>
          </a:p>
        </p:txBody>
      </p:sp>
      <p:sp>
        <p:nvSpPr>
          <p:cNvPr id="12" name="Text 10"/>
          <p:cNvSpPr txBox="1"/>
          <p:nvPr/>
        </p:nvSpPr>
        <p:spPr>
          <a:xfrm>
            <a:off x="777240" y="3154680"/>
            <a:ext cx="868680" cy="384048"/>
          </a:xfrm>
          <a:prstGeom prst="roundRect">
            <a:avLst>
              <a:gd name="adj" fmla="val 19048"/>
            </a:avLst>
          </a:prstGeom>
          <a:solidFill>
            <a:schemeClr val="accent1"/>
          </a:solidFill>
          <a:ln/>
        </p:spPr>
        <p:txBody>
          <a:bodyPr wrap="square" lIns="762" tIns="762" rIns="762" bIns="762" rtlCol="0" anchor="ctr"/>
          <a:lstStyle/>
          <a:p>
            <a:pPr algn="ctr" indent="0" marL="0">
              <a:buNone/>
            </a:pPr>
            <a:r>
              <a:rPr lang="en-US" sz="1200" b="1" dirty="0">
                <a:solidFill>
                  <a:schemeClr val="bg1"/>
                </a:solidFill>
              </a:rPr>
              <a:t>POST</a:t>
            </a:r>
            <a:endParaRPr lang="en-US" sz="1200" dirty="0"/>
          </a:p>
        </p:txBody>
      </p:sp>
      <p:sp>
        <p:nvSpPr>
          <p:cNvPr id="13" name="Text 11"/>
          <p:cNvSpPr txBox="1"/>
          <p:nvPr/>
        </p:nvSpPr>
        <p:spPr>
          <a:xfrm>
            <a:off x="1828800" y="3154680"/>
            <a:ext cx="5486400" cy="384048"/>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/api/appointments</a:t>
            </a:r>
            <a:endParaRPr lang="en-US" sz="1300" dirty="0"/>
          </a:p>
        </p:txBody>
      </p:sp>
      <p:sp>
        <p:nvSpPr>
          <p:cNvPr id="14" name="Text 12"/>
          <p:cNvSpPr txBox="1"/>
          <p:nvPr/>
        </p:nvSpPr>
        <p:spPr>
          <a:xfrm>
            <a:off x="777240" y="3657600"/>
            <a:ext cx="868680" cy="384048"/>
          </a:xfrm>
          <a:prstGeom prst="roundRect">
            <a:avLst>
              <a:gd name="adj" fmla="val 19048"/>
            </a:avLst>
          </a:prstGeom>
          <a:solidFill>
            <a:schemeClr val="accent3"/>
          </a:solidFill>
          <a:ln/>
        </p:spPr>
        <p:txBody>
          <a:bodyPr wrap="square" lIns="762" tIns="762" rIns="762" bIns="762" rtlCol="0" anchor="ctr"/>
          <a:lstStyle/>
          <a:p>
            <a:pPr algn="ctr" indent="0" marL="0">
              <a:buNone/>
            </a:pPr>
            <a:r>
              <a:rPr lang="en-US" sz="1200" b="1" dirty="0">
                <a:solidFill>
                  <a:schemeClr val="bg1"/>
                </a:solidFill>
              </a:rPr>
              <a:t>PUT</a:t>
            </a:r>
            <a:endParaRPr lang="en-US" sz="1200" dirty="0"/>
          </a:p>
        </p:txBody>
      </p:sp>
      <p:sp>
        <p:nvSpPr>
          <p:cNvPr id="15" name="Text 13"/>
          <p:cNvSpPr txBox="1"/>
          <p:nvPr/>
        </p:nvSpPr>
        <p:spPr>
          <a:xfrm>
            <a:off x="1828800" y="3657600"/>
            <a:ext cx="5486400" cy="384048"/>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/api/appointments/:id/reschedule</a:t>
            </a:r>
            <a:endParaRPr lang="en-US" sz="1300" dirty="0"/>
          </a:p>
        </p:txBody>
      </p:sp>
      <p:sp>
        <p:nvSpPr>
          <p:cNvPr id="16" name="Text 14"/>
          <p:cNvSpPr txBox="1"/>
          <p:nvPr/>
        </p:nvSpPr>
        <p:spPr>
          <a:xfrm>
            <a:off x="777240" y="4160520"/>
            <a:ext cx="868680" cy="384048"/>
          </a:xfrm>
          <a:prstGeom prst="roundRect">
            <a:avLst>
              <a:gd name="adj" fmla="val 19048"/>
            </a:avLst>
          </a:prstGeom>
          <a:solidFill>
            <a:schemeClr val="accent4"/>
          </a:solidFill>
          <a:ln/>
        </p:spPr>
        <p:txBody>
          <a:bodyPr wrap="square" lIns="762" tIns="762" rIns="762" bIns="762" rtlCol="0" anchor="ctr"/>
          <a:lstStyle/>
          <a:p>
            <a:pPr algn="ctr" indent="0" marL="0">
              <a:buNone/>
            </a:pPr>
            <a:r>
              <a:rPr lang="en-US" sz="1200" b="1" dirty="0">
                <a:solidFill>
                  <a:schemeClr val="bg1"/>
                </a:solidFill>
              </a:rPr>
              <a:t>DELETE</a:t>
            </a:r>
            <a:endParaRPr lang="en-US" sz="1200" dirty="0"/>
          </a:p>
        </p:txBody>
      </p:sp>
      <p:sp>
        <p:nvSpPr>
          <p:cNvPr id="17" name="Text 15"/>
          <p:cNvSpPr txBox="1"/>
          <p:nvPr/>
        </p:nvSpPr>
        <p:spPr>
          <a:xfrm>
            <a:off x="1828800" y="4160520"/>
            <a:ext cx="5486400" cy="384048"/>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/api/appointments/:id</a:t>
            </a:r>
            <a:endParaRPr lang="en-US" sz="1300" dirty="0"/>
          </a:p>
        </p:txBody>
      </p:sp>
      <p:sp>
        <p:nvSpPr>
          <p:cNvPr id="18" name="Text 16"/>
          <p:cNvSpPr txBox="1"/>
          <p:nvPr/>
        </p:nvSpPr>
        <p:spPr>
          <a:xfrm>
            <a:off x="777240" y="4663440"/>
            <a:ext cx="868680" cy="384048"/>
          </a:xfrm>
          <a:prstGeom prst="roundRect">
            <a:avLst>
              <a:gd name="adj" fmla="val 19048"/>
            </a:avLst>
          </a:prstGeom>
          <a:solidFill>
            <a:schemeClr val="accent2"/>
          </a:solidFill>
          <a:ln/>
        </p:spPr>
        <p:txBody>
          <a:bodyPr wrap="square" lIns="762" tIns="762" rIns="762" bIns="762" rtlCol="0" anchor="ctr"/>
          <a:lstStyle/>
          <a:p>
            <a:pPr algn="ctr" indent="0" marL="0">
              <a:buNone/>
            </a:pPr>
            <a:r>
              <a:rPr lang="en-US" sz="1200" b="1" dirty="0">
                <a:solidFill>
                  <a:schemeClr val="bg1"/>
                </a:solidFill>
              </a:rPr>
              <a:t>GET</a:t>
            </a:r>
            <a:endParaRPr lang="en-US" sz="1200" dirty="0"/>
          </a:p>
        </p:txBody>
      </p:sp>
      <p:sp>
        <p:nvSpPr>
          <p:cNvPr id="19" name="Text 17"/>
          <p:cNvSpPr txBox="1"/>
          <p:nvPr/>
        </p:nvSpPr>
        <p:spPr>
          <a:xfrm>
            <a:off x="1828800" y="4663440"/>
            <a:ext cx="5486400" cy="384048"/>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/api/doctor/dashboard</a:t>
            </a:r>
            <a:endParaRPr lang="en-US" sz="1300" dirty="0"/>
          </a:p>
        </p:txBody>
      </p:sp>
      <p:sp>
        <p:nvSpPr>
          <p:cNvPr id="20" name="Text 18"/>
          <p:cNvSpPr txBox="1"/>
          <p:nvPr/>
        </p:nvSpPr>
        <p:spPr>
          <a:xfrm>
            <a:off x="777240" y="5166360"/>
            <a:ext cx="868680" cy="384048"/>
          </a:xfrm>
          <a:prstGeom prst="roundRect">
            <a:avLst>
              <a:gd name="adj" fmla="val 19048"/>
            </a:avLst>
          </a:prstGeom>
          <a:solidFill>
            <a:schemeClr val="accent2"/>
          </a:solidFill>
          <a:ln/>
        </p:spPr>
        <p:txBody>
          <a:bodyPr wrap="square" lIns="762" tIns="762" rIns="762" bIns="762" rtlCol="0" anchor="ctr"/>
          <a:lstStyle/>
          <a:p>
            <a:pPr algn="ctr" indent="0" marL="0">
              <a:buNone/>
            </a:pPr>
            <a:r>
              <a:rPr lang="en-US" sz="1200" b="1" dirty="0">
                <a:solidFill>
                  <a:schemeClr val="bg1"/>
                </a:solidFill>
              </a:rPr>
              <a:t>GET</a:t>
            </a:r>
            <a:endParaRPr lang="en-US" sz="1200" dirty="0"/>
          </a:p>
        </p:txBody>
      </p:sp>
      <p:sp>
        <p:nvSpPr>
          <p:cNvPr id="21" name="Text 19"/>
          <p:cNvSpPr txBox="1"/>
          <p:nvPr/>
        </p:nvSpPr>
        <p:spPr>
          <a:xfrm>
            <a:off x="1828800" y="5166360"/>
            <a:ext cx="5486400" cy="384048"/>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/api/admin/audit-logs</a:t>
            </a:r>
            <a:endParaRPr lang="en-US" sz="1300" dirty="0"/>
          </a:p>
        </p:txBody>
      </p:sp>
      <p:sp>
        <p:nvSpPr>
          <p:cNvPr id="22" name="Text 20"/>
          <p:cNvSpPr txBox="1"/>
          <p:nvPr/>
        </p:nvSpPr>
        <p:spPr>
          <a:xfrm>
            <a:off x="548640" y="5989320"/>
            <a:ext cx="4572000" cy="274320"/>
          </a:xfrm>
          <a:prstGeom prst="rect">
            <a:avLst/>
          </a:prstGeom>
          <a:noFill/>
          <a:ln/>
        </p:spPr>
        <p:txBody>
          <a:bodyPr wrap="square" lIns="0" tIns="0" rIns="0" bIns="0" rtlCol="0" anchor="t"/>
          <a:lstStyle/>
          <a:p>
            <a:pPr indent="0" marL="0">
              <a:buNone/>
            </a:pPr>
            <a:r>
              <a:rPr lang="en-US" sz="1100" i="1" dirty="0">
                <a:solidFill>
                  <a:schemeClr val="accent5"/>
                </a:solidFill>
              </a:rPr>
              <a:t>Representative endpoints</a:t>
            </a:r>
            <a:endParaRPr lang="en-US" sz="1100" dirty="0"/>
          </a:p>
        </p:txBody>
      </p:sp>
      <p:sp>
        <p:nvSpPr>
          <p:cNvPr id="23" name="Text 21"/>
          <p:cNvSpPr txBox="1"/>
          <p:nvPr/>
        </p:nvSpPr>
        <p:spPr>
          <a:xfrm>
            <a:off x="8046720" y="1463040"/>
            <a:ext cx="3566160" cy="1005840"/>
          </a:xfrm>
          <a:prstGeom prst="rect">
            <a:avLst/>
          </a:prstGeom>
          <a:noFill/>
          <a:ln/>
        </p:spPr>
        <p:txBody>
          <a:bodyPr wrap="square" lIns="0" tIns="0" rIns="0" bIns="0" rtlCol="0" anchor="t"/>
          <a:lstStyle/>
          <a:p>
            <a:pPr indent="0" marL="0">
              <a:buNone/>
            </a:pPr>
            <a:r>
              <a:rPr lang="en-US" sz="6600" b="1" dirty="0">
                <a:solidFill>
                  <a:schemeClr val="accent1"/>
                </a:solidFill>
                <a:latin typeface="Cambria" pitchFamily="34" charset="0"/>
                <a:ea typeface="Cambria" pitchFamily="34" charset="-122"/>
                <a:cs typeface="Cambria" pitchFamily="34" charset="-120"/>
              </a:rPr>
              <a:t>37</a:t>
            </a:r>
            <a:endParaRPr lang="en-US" sz="6600" dirty="0"/>
          </a:p>
        </p:txBody>
      </p:sp>
      <p:sp>
        <p:nvSpPr>
          <p:cNvPr id="24" name="Text 22"/>
          <p:cNvSpPr txBox="1"/>
          <p:nvPr/>
        </p:nvSpPr>
        <p:spPr>
          <a:xfrm>
            <a:off x="8046720" y="2514600"/>
            <a:ext cx="3566160" cy="365760"/>
          </a:xfrm>
          <a:prstGeom prst="rect">
            <a:avLst/>
          </a:prstGeom>
          <a:noFill/>
          <a:ln/>
        </p:spPr>
        <p:txBody>
          <a:bodyPr wrap="square" lIns="0" tIns="0" rIns="0" bIns="0" rtlCol="0" anchor="t"/>
          <a:lstStyle/>
          <a:p>
            <a:pPr indent="0" marL="0">
              <a:buNone/>
            </a:pPr>
            <a:r>
              <a:rPr lang="en-US" sz="1600" dirty="0">
                <a:solidFill>
                  <a:schemeClr val="tx2"/>
                </a:solidFill>
              </a:rPr>
              <a:t>REST endpoints documented</a:t>
            </a:r>
            <a:endParaRPr lang="en-US" sz="1600" dirty="0"/>
          </a:p>
        </p:txBody>
      </p:sp>
      <p:sp>
        <p:nvSpPr>
          <p:cNvPr id="25" name="Text 23"/>
          <p:cNvSpPr txBox="1"/>
          <p:nvPr/>
        </p:nvSpPr>
        <p:spPr>
          <a:xfrm>
            <a:off x="8046720" y="320040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Opens in the browser automatically on server start (port 5000)</a:t>
            </a:r>
            <a:endParaRPr lang="en-US" sz="1500" dirty="0"/>
          </a:p>
          <a:p>
            <a:pPr marL="342900" indent="-342900">
              <a:spcAft>
                <a:spcPts val="800"/>
              </a:spcAft>
              <a:buSzPct val="100000"/>
              <a:buChar char="•"/>
            </a:pPr>
            <a:r>
              <a:rPr lang="en-US" sz="1500" dirty="0">
                <a:solidFill>
                  <a:schemeClr val="tx1"/>
                </a:solidFill>
              </a:rPr>
              <a:t>OpenAPI 3.0 specification</a:t>
            </a:r>
            <a:endParaRPr lang="en-US" sz="1500" dirty="0"/>
          </a:p>
          <a:p>
            <a:pPr marL="342900" indent="-342900">
              <a:spcAft>
                <a:spcPts val="800"/>
              </a:spcAft>
              <a:buSzPct val="100000"/>
              <a:buChar char="•"/>
            </a:pPr>
            <a:r>
              <a:rPr lang="en-US" sz="1500" dirty="0">
                <a:solidFill>
                  <a:schemeClr val="tx1"/>
                </a:solidFill>
              </a:rPr>
              <a:t>Authorize once with a JWT; it persists</a:t>
            </a:r>
            <a:endParaRPr lang="en-US" sz="1500" dirty="0"/>
          </a:p>
          <a:p>
            <a:pPr marL="342900" indent="-342900">
              <a:spcAft>
                <a:spcPts val="800"/>
              </a:spcAft>
              <a:buSzPct val="100000"/>
              <a:buChar char="•"/>
            </a:pPr>
            <a:r>
              <a:rPr lang="en-US" sz="1500" dirty="0">
                <a:solidFill>
                  <a:schemeClr val="tx1"/>
                </a:solidFill>
              </a:rPr>
              <a:t>Try every endpoint live</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Quality assurance and concurrency test</a:t>
            </a:r>
            <a:endParaRPr lang="en-US" sz="3400" dirty="0"/>
          </a:p>
        </p:txBody>
      </p:sp>
      <p:sp>
        <p:nvSpPr>
          <p:cNvPr id="3" name="Shape 1"/>
          <p:cNvSpPr/>
          <p:nvPr/>
        </p:nvSpPr>
        <p:spPr>
          <a:xfrm>
            <a:off x="548640" y="1463040"/>
            <a:ext cx="4023360" cy="4480560"/>
          </a:xfrm>
          <a:prstGeom prst="roundRect">
            <a:avLst>
              <a:gd name="adj" fmla="val 2273"/>
            </a:avLst>
          </a:prstGeom>
          <a:solidFill>
            <a:schemeClr val="bg2"/>
          </a:solidFill>
          <a:ln/>
        </p:spPr>
      </p:sp>
      <p:sp>
        <p:nvSpPr>
          <p:cNvPr id="4" name="Text 2"/>
          <p:cNvSpPr txBox="1"/>
          <p:nvPr/>
        </p:nvSpPr>
        <p:spPr>
          <a:xfrm>
            <a:off x="822960" y="1783080"/>
            <a:ext cx="3474720" cy="914400"/>
          </a:xfrm>
          <a:prstGeom prst="rect">
            <a:avLst/>
          </a:prstGeom>
          <a:noFill/>
          <a:ln/>
        </p:spPr>
        <p:txBody>
          <a:bodyPr wrap="square" lIns="0" tIns="0" rIns="0" bIns="0" rtlCol="0" anchor="t"/>
          <a:lstStyle/>
          <a:p>
            <a:pPr indent="0" marL="0">
              <a:buNone/>
            </a:pPr>
            <a:r>
              <a:rPr lang="en-US" sz="5400" b="1" dirty="0">
                <a:solidFill>
                  <a:schemeClr val="accent6"/>
                </a:solidFill>
                <a:latin typeface="Cambria" pitchFamily="34" charset="0"/>
                <a:ea typeface="Cambria" pitchFamily="34" charset="-122"/>
                <a:cs typeface="Cambria" pitchFamily="34" charset="-120"/>
              </a:rPr>
              <a:t>31 / 31</a:t>
            </a:r>
            <a:endParaRPr lang="en-US" sz="5400" dirty="0"/>
          </a:p>
        </p:txBody>
      </p:sp>
      <p:sp>
        <p:nvSpPr>
          <p:cNvPr id="5" name="Text 3"/>
          <p:cNvSpPr txBox="1"/>
          <p:nvPr/>
        </p:nvSpPr>
        <p:spPr>
          <a:xfrm>
            <a:off x="822960" y="2743200"/>
            <a:ext cx="3474720" cy="365760"/>
          </a:xfrm>
          <a:prstGeom prst="rect">
            <a:avLst/>
          </a:prstGeom>
          <a:noFill/>
          <a:ln/>
        </p:spPr>
        <p:txBody>
          <a:bodyPr wrap="square" lIns="0" tIns="0" rIns="0" bIns="0" rtlCol="0" anchor="t"/>
          <a:lstStyle/>
          <a:p>
            <a:pPr indent="0" marL="0">
              <a:buNone/>
            </a:pPr>
            <a:r>
              <a:rPr lang="en-US" sz="1800" b="1" dirty="0">
                <a:solidFill>
                  <a:schemeClr val="tx1"/>
                </a:solidFill>
              </a:rPr>
              <a:t>automated tests pass</a:t>
            </a:r>
            <a:endParaRPr lang="en-US" sz="1800" dirty="0"/>
          </a:p>
        </p:txBody>
      </p:sp>
      <p:sp>
        <p:nvSpPr>
          <p:cNvPr id="6" name="Text 4"/>
          <p:cNvSpPr txBox="1"/>
          <p:nvPr/>
        </p:nvSpPr>
        <p:spPr>
          <a:xfrm>
            <a:off x="822960" y="3383280"/>
            <a:ext cx="3474720" cy="2011680"/>
          </a:xfrm>
          <a:prstGeom prst="rect">
            <a:avLst/>
          </a:prstGeom>
          <a:noFill/>
          <a:ln/>
        </p:spPr>
        <p:txBody>
          <a:bodyPr wrap="square" lIns="0" tIns="0" rIns="0" bIns="0" rtlCol="0" anchor="t"/>
          <a:lstStyle/>
          <a:p>
            <a:pPr indent="0" marL="0">
              <a:buNone/>
            </a:pPr>
            <a:r>
              <a:rPr lang="en-US" sz="1500" dirty="0">
                <a:solidFill>
                  <a:schemeClr val="tx2"/>
                </a:solidFill>
              </a:rPr>
              <a:t>100% pass rate, including a parallel race-condition stress test on the booking engine.</a:t>
            </a:r>
            <a:endParaRPr lang="en-US" sz="1500" dirty="0"/>
          </a:p>
        </p:txBody>
      </p:sp>
      <p:sp>
        <p:nvSpPr>
          <p:cNvPr id="7" name="Text 5"/>
          <p:cNvSpPr txBox="1"/>
          <p:nvPr/>
        </p:nvSpPr>
        <p:spPr>
          <a:xfrm>
            <a:off x="5029200" y="1463040"/>
            <a:ext cx="6400800" cy="365760"/>
          </a:xfrm>
          <a:prstGeom prst="rect">
            <a:avLst/>
          </a:prstGeom>
          <a:noFill/>
          <a:ln/>
        </p:spPr>
        <p:txBody>
          <a:bodyPr wrap="square" lIns="0" tIns="0" rIns="0" bIns="0" rtlCol="0" anchor="t"/>
          <a:lstStyle/>
          <a:p>
            <a:pPr indent="0" marL="0">
              <a:buNone/>
            </a:pPr>
            <a:r>
              <a:rPr lang="en-US" sz="1600" b="1" dirty="0">
                <a:solidFill>
                  <a:schemeClr val="tx1"/>
                </a:solidFill>
              </a:rPr>
              <a:t>10 parallel requests for the same slot</a:t>
            </a:r>
            <a:endParaRPr lang="en-US" sz="1600" dirty="0"/>
          </a:p>
        </p:txBody>
      </p:sp>
      <p:sp>
        <p:nvSpPr>
          <p:cNvPr id="8" name="Text 6"/>
          <p:cNvSpPr txBox="1"/>
          <p:nvPr/>
        </p:nvSpPr>
        <p:spPr>
          <a:xfrm>
            <a:off x="5029200" y="1965960"/>
            <a:ext cx="502920" cy="502920"/>
          </a:xfrm>
          <a:prstGeom prst="roundRect">
            <a:avLst>
              <a:gd name="adj" fmla="val 14545"/>
            </a:avLst>
          </a:prstGeom>
          <a:solidFill>
            <a:schemeClr val="accent2"/>
          </a:solidFill>
          <a:ln/>
        </p:spPr>
        <p:txBody>
          <a:bodyPr wrap="square" lIns="762" tIns="762" rIns="762" bIns="762" rtlCol="0" anchor="ctr"/>
          <a:lstStyle/>
          <a:p>
            <a:pPr algn="ctr" indent="0" marL="0">
              <a:buNone/>
            </a:pPr>
            <a:r>
              <a:rPr lang="en-US" sz="1400" b="1" dirty="0">
                <a:solidFill>
                  <a:schemeClr val="tx1"/>
                </a:solidFill>
              </a:rPr>
              <a:t>✓</a:t>
            </a:r>
            <a:endParaRPr lang="en-US" sz="1400" dirty="0"/>
          </a:p>
        </p:txBody>
      </p:sp>
      <p:sp>
        <p:nvSpPr>
          <p:cNvPr id="9" name="Text 7"/>
          <p:cNvSpPr txBox="1"/>
          <p:nvPr/>
        </p:nvSpPr>
        <p:spPr>
          <a:xfrm>
            <a:off x="5696712" y="1965960"/>
            <a:ext cx="502920" cy="502920"/>
          </a:xfrm>
          <a:prstGeom prst="roundRect">
            <a:avLst>
              <a:gd name="adj" fmla="val 14545"/>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a:t>
            </a:r>
            <a:endParaRPr lang="en-US" sz="1400" dirty="0"/>
          </a:p>
        </p:txBody>
      </p:sp>
      <p:sp>
        <p:nvSpPr>
          <p:cNvPr id="10" name="Text 8"/>
          <p:cNvSpPr txBox="1"/>
          <p:nvPr/>
        </p:nvSpPr>
        <p:spPr>
          <a:xfrm>
            <a:off x="6364224" y="1965960"/>
            <a:ext cx="502920" cy="502920"/>
          </a:xfrm>
          <a:prstGeom prst="roundRect">
            <a:avLst>
              <a:gd name="adj" fmla="val 14545"/>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a:t>
            </a:r>
            <a:endParaRPr lang="en-US" sz="1400" dirty="0"/>
          </a:p>
        </p:txBody>
      </p:sp>
      <p:sp>
        <p:nvSpPr>
          <p:cNvPr id="11" name="Text 9"/>
          <p:cNvSpPr txBox="1"/>
          <p:nvPr/>
        </p:nvSpPr>
        <p:spPr>
          <a:xfrm>
            <a:off x="7031736" y="1965960"/>
            <a:ext cx="502920" cy="502920"/>
          </a:xfrm>
          <a:prstGeom prst="roundRect">
            <a:avLst>
              <a:gd name="adj" fmla="val 14545"/>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a:t>
            </a:r>
            <a:endParaRPr lang="en-US" sz="1400" dirty="0"/>
          </a:p>
        </p:txBody>
      </p:sp>
      <p:sp>
        <p:nvSpPr>
          <p:cNvPr id="12" name="Text 10"/>
          <p:cNvSpPr txBox="1"/>
          <p:nvPr/>
        </p:nvSpPr>
        <p:spPr>
          <a:xfrm>
            <a:off x="7699248" y="1965960"/>
            <a:ext cx="502920" cy="502920"/>
          </a:xfrm>
          <a:prstGeom prst="roundRect">
            <a:avLst>
              <a:gd name="adj" fmla="val 14545"/>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a:t>
            </a:r>
            <a:endParaRPr lang="en-US" sz="1400" dirty="0"/>
          </a:p>
        </p:txBody>
      </p:sp>
      <p:sp>
        <p:nvSpPr>
          <p:cNvPr id="13" name="Text 11"/>
          <p:cNvSpPr txBox="1"/>
          <p:nvPr/>
        </p:nvSpPr>
        <p:spPr>
          <a:xfrm>
            <a:off x="8366760" y="1965960"/>
            <a:ext cx="502920" cy="502920"/>
          </a:xfrm>
          <a:prstGeom prst="roundRect">
            <a:avLst>
              <a:gd name="adj" fmla="val 14545"/>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a:t>
            </a:r>
            <a:endParaRPr lang="en-US" sz="1400" dirty="0"/>
          </a:p>
        </p:txBody>
      </p:sp>
      <p:sp>
        <p:nvSpPr>
          <p:cNvPr id="14" name="Text 12"/>
          <p:cNvSpPr txBox="1"/>
          <p:nvPr/>
        </p:nvSpPr>
        <p:spPr>
          <a:xfrm>
            <a:off x="9034272" y="1965960"/>
            <a:ext cx="502920" cy="502920"/>
          </a:xfrm>
          <a:prstGeom prst="roundRect">
            <a:avLst>
              <a:gd name="adj" fmla="val 14545"/>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a:t>
            </a:r>
            <a:endParaRPr lang="en-US" sz="1400" dirty="0"/>
          </a:p>
        </p:txBody>
      </p:sp>
      <p:sp>
        <p:nvSpPr>
          <p:cNvPr id="15" name="Text 13"/>
          <p:cNvSpPr txBox="1"/>
          <p:nvPr/>
        </p:nvSpPr>
        <p:spPr>
          <a:xfrm>
            <a:off x="9701784" y="1965960"/>
            <a:ext cx="502920" cy="502920"/>
          </a:xfrm>
          <a:prstGeom prst="roundRect">
            <a:avLst>
              <a:gd name="adj" fmla="val 14545"/>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a:t>
            </a:r>
            <a:endParaRPr lang="en-US" sz="1400" dirty="0"/>
          </a:p>
        </p:txBody>
      </p:sp>
      <p:sp>
        <p:nvSpPr>
          <p:cNvPr id="16" name="Text 14"/>
          <p:cNvSpPr txBox="1"/>
          <p:nvPr/>
        </p:nvSpPr>
        <p:spPr>
          <a:xfrm>
            <a:off x="10369296" y="1965960"/>
            <a:ext cx="502920" cy="502920"/>
          </a:xfrm>
          <a:prstGeom prst="roundRect">
            <a:avLst>
              <a:gd name="adj" fmla="val 14545"/>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a:t>
            </a:r>
            <a:endParaRPr lang="en-US" sz="1400" dirty="0"/>
          </a:p>
        </p:txBody>
      </p:sp>
      <p:sp>
        <p:nvSpPr>
          <p:cNvPr id="17" name="Text 15"/>
          <p:cNvSpPr txBox="1"/>
          <p:nvPr/>
        </p:nvSpPr>
        <p:spPr>
          <a:xfrm>
            <a:off x="11036808" y="1965960"/>
            <a:ext cx="502920" cy="502920"/>
          </a:xfrm>
          <a:prstGeom prst="roundRect">
            <a:avLst>
              <a:gd name="adj" fmla="val 14545"/>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a:t>
            </a:r>
            <a:endParaRPr lang="en-US" sz="1400" dirty="0"/>
          </a:p>
        </p:txBody>
      </p:sp>
      <p:sp>
        <p:nvSpPr>
          <p:cNvPr id="18" name="Shape 16"/>
          <p:cNvSpPr/>
          <p:nvPr/>
        </p:nvSpPr>
        <p:spPr>
          <a:xfrm>
            <a:off x="8229600" y="2606040"/>
            <a:ext cx="0" cy="594360"/>
          </a:xfrm>
          <a:prstGeom prst="line">
            <a:avLst/>
          </a:prstGeom>
          <a:noFill/>
          <a:ln w="25400">
            <a:solidFill>
              <a:schemeClr val="accent5"/>
            </a:solidFill>
            <a:prstDash val="solid"/>
            <a:tailEnd type="triangle"/>
          </a:ln>
        </p:spPr>
      </p:sp>
      <p:sp>
        <p:nvSpPr>
          <p:cNvPr id="19" name="Text 17"/>
          <p:cNvSpPr txBox="1"/>
          <p:nvPr/>
        </p:nvSpPr>
        <p:spPr>
          <a:xfrm>
            <a:off x="6126480" y="3246120"/>
            <a:ext cx="4206240" cy="731520"/>
          </a:xfrm>
          <a:prstGeom prst="roundRect">
            <a:avLst>
              <a:gd name="adj" fmla="val 10000"/>
            </a:avLst>
          </a:prstGeom>
          <a:solidFill>
            <a:schemeClr val="tx1"/>
          </a:solidFill>
          <a:ln/>
        </p:spPr>
        <p:txBody>
          <a:bodyPr wrap="square" lIns="762" tIns="762" rIns="762" bIns="762" rtlCol="0" anchor="ctr"/>
          <a:lstStyle/>
          <a:p>
            <a:pPr algn="ctr" indent="0" marL="0">
              <a:buNone/>
            </a:pPr>
            <a:r>
              <a:rPr lang="en-US" sz="1400" b="1" dirty="0">
                <a:solidFill>
                  <a:schemeClr val="bg1"/>
                </a:solidFill>
              </a:rPr>
              <a:t>Slot #42 (single atomic update)</a:t>
            </a:r>
            <a:endParaRPr lang="en-US" sz="1400" dirty="0"/>
          </a:p>
        </p:txBody>
      </p:sp>
      <p:sp>
        <p:nvSpPr>
          <p:cNvPr id="20" name="Shape 18"/>
          <p:cNvSpPr/>
          <p:nvPr/>
        </p:nvSpPr>
        <p:spPr>
          <a:xfrm>
            <a:off x="6949440" y="3977640"/>
            <a:ext cx="0" cy="548640"/>
          </a:xfrm>
          <a:prstGeom prst="line">
            <a:avLst/>
          </a:prstGeom>
          <a:noFill/>
          <a:ln w="25400">
            <a:solidFill>
              <a:schemeClr val="accent5"/>
            </a:solidFill>
            <a:prstDash val="solid"/>
            <a:tailEnd type="triangle"/>
          </a:ln>
        </p:spPr>
      </p:sp>
      <p:sp>
        <p:nvSpPr>
          <p:cNvPr id="21" name="Shape 19"/>
          <p:cNvSpPr/>
          <p:nvPr/>
        </p:nvSpPr>
        <p:spPr>
          <a:xfrm>
            <a:off x="9509760" y="3977640"/>
            <a:ext cx="0" cy="548640"/>
          </a:xfrm>
          <a:prstGeom prst="line">
            <a:avLst/>
          </a:prstGeom>
          <a:noFill/>
          <a:ln w="25400">
            <a:solidFill>
              <a:schemeClr val="accent5"/>
            </a:solidFill>
            <a:prstDash val="solid"/>
            <a:tailEnd type="triangle"/>
          </a:ln>
        </p:spPr>
      </p:sp>
      <p:sp>
        <p:nvSpPr>
          <p:cNvPr id="22" name="Text 20"/>
          <p:cNvSpPr txBox="1"/>
          <p:nvPr/>
        </p:nvSpPr>
        <p:spPr>
          <a:xfrm>
            <a:off x="5029200" y="4572000"/>
            <a:ext cx="3108960" cy="822960"/>
          </a:xfrm>
          <a:prstGeom prst="roundRect">
            <a:avLst>
              <a:gd name="adj" fmla="val 8889"/>
            </a:avLst>
          </a:prstGeom>
          <a:solidFill>
            <a:schemeClr val="accent2"/>
          </a:solidFill>
          <a:ln/>
        </p:spPr>
        <p:txBody>
          <a:bodyPr wrap="square" lIns="762" tIns="762" rIns="762" bIns="762" rtlCol="0" anchor="ctr"/>
          <a:lstStyle/>
          <a:p>
            <a:pPr algn="ctr" indent="0" marL="0">
              <a:buNone/>
            </a:pPr>
            <a:r>
              <a:rPr lang="en-US" sz="1400" b="1" dirty="0">
                <a:solidFill>
                  <a:schemeClr val="tx1"/>
                </a:solidFill>
              </a:rPr>
              <a:t>1 × 201 Created</a:t>
            </a:r>
            <a:endParaRPr lang="en-US" sz="1400" dirty="0"/>
          </a:p>
        </p:txBody>
      </p:sp>
      <p:sp>
        <p:nvSpPr>
          <p:cNvPr id="23" name="Text 21"/>
          <p:cNvSpPr txBox="1"/>
          <p:nvPr/>
        </p:nvSpPr>
        <p:spPr>
          <a:xfrm>
            <a:off x="8503920" y="4572000"/>
            <a:ext cx="3108960" cy="822960"/>
          </a:xfrm>
          <a:prstGeom prst="roundRect">
            <a:avLst>
              <a:gd name="adj" fmla="val 8889"/>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9 × 409 Conflict</a:t>
            </a:r>
            <a:endParaRPr lang="en-US" sz="1400" dirty="0"/>
          </a:p>
        </p:txBody>
      </p:sp>
      <p:sp>
        <p:nvSpPr>
          <p:cNvPr id="24" name="Text 22"/>
          <p:cNvSpPr txBox="1"/>
          <p:nvPr/>
        </p:nvSpPr>
        <p:spPr>
          <a:xfrm>
            <a:off x="5029200" y="5577840"/>
            <a:ext cx="6583680" cy="365760"/>
          </a:xfrm>
          <a:prstGeom prst="rect">
            <a:avLst/>
          </a:prstGeom>
          <a:noFill/>
          <a:ln/>
        </p:spPr>
        <p:txBody>
          <a:bodyPr wrap="square" lIns="0" tIns="0" rIns="0" bIns="0" rtlCol="0" anchor="t"/>
          <a:lstStyle/>
          <a:p>
            <a:pPr indent="0" marL="0">
              <a:buNone/>
            </a:pPr>
            <a:r>
              <a:rPr lang="en-US" sz="1400" i="1" dirty="0">
                <a:solidFill>
                  <a:schemeClr val="tx2"/>
                </a:solidFill>
              </a:rPr>
              <a:t>Result: exactly one booking, zero duplicates.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Conclusion and roadmap</a:t>
            </a:r>
            <a:endParaRPr lang="en-US" sz="3400" dirty="0"/>
          </a:p>
        </p:txBody>
      </p:sp>
      <p:sp>
        <p:nvSpPr>
          <p:cNvPr id="3" name="Shape 1"/>
          <p:cNvSpPr/>
          <p:nvPr/>
        </p:nvSpPr>
        <p:spPr>
          <a:xfrm>
            <a:off x="548640" y="1463040"/>
            <a:ext cx="3566160" cy="4480560"/>
          </a:xfrm>
          <a:prstGeom prst="roundRect">
            <a:avLst>
              <a:gd name="adj" fmla="val 2564"/>
            </a:avLst>
          </a:prstGeom>
          <a:solidFill>
            <a:schemeClr val="bg1">
              <a:alpha val="8000"/>
            </a:schemeClr>
          </a:solidFill>
          <a:ln/>
        </p:spPr>
      </p:sp>
      <p:sp>
        <p:nvSpPr>
          <p:cNvPr id="4" name="Shape 2"/>
          <p:cNvSpPr/>
          <p:nvPr/>
        </p:nvSpPr>
        <p:spPr>
          <a:xfrm>
            <a:off x="822960" y="1737360"/>
            <a:ext cx="320040" cy="320040"/>
          </a:xfrm>
          <a:prstGeom prst="ellipse">
            <a:avLst/>
          </a:prstGeom>
          <a:solidFill>
            <a:schemeClr val="accent2"/>
          </a:solidFill>
          <a:ln/>
        </p:spPr>
      </p:sp>
      <p:sp>
        <p:nvSpPr>
          <p:cNvPr id="5" name="Text 3"/>
          <p:cNvSpPr txBox="1"/>
          <p:nvPr/>
        </p:nvSpPr>
        <p:spPr>
          <a:xfrm>
            <a:off x="1325880" y="1719072"/>
            <a:ext cx="2560320" cy="36576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Achieved</a:t>
            </a:r>
            <a:endParaRPr lang="en-US" sz="2200" dirty="0"/>
          </a:p>
        </p:txBody>
      </p:sp>
      <p:sp>
        <p:nvSpPr>
          <p:cNvPr id="6" name="Text 4"/>
          <p:cNvSpPr txBox="1"/>
          <p:nvPr/>
        </p:nvSpPr>
        <p:spPr>
          <a:xfrm>
            <a:off x="822960" y="2468880"/>
            <a:ext cx="3017520" cy="3291840"/>
          </a:xfrm>
          <a:prstGeom prst="rect">
            <a:avLst/>
          </a:prstGeom>
          <a:noFill/>
          <a:ln/>
        </p:spPr>
        <p:txBody>
          <a:bodyPr wrap="square" lIns="0" tIns="0" rIns="0" bIns="0" rtlCol="0" anchor="t"/>
          <a:lstStyle/>
          <a:p>
            <a:pPr indent="0" marL="0">
              <a:spcAft>
                <a:spcPts val="1000"/>
              </a:spcAft>
              <a:buNone/>
            </a:pPr>
            <a:r>
              <a:rPr lang="en-US" sz="1500" dirty="0">
                <a:solidFill>
                  <a:schemeClr val="bg2"/>
                </a:solidFill>
              </a:rPr>
              <a:t>Atomic booking with zero double-booking.</a:t>
            </a:r>
            <a:endParaRPr lang="en-US" sz="1500" dirty="0"/>
          </a:p>
          <a:p>
            <a:pPr indent="0" marL="0">
              <a:spcAft>
                <a:spcPts val="1000"/>
              </a:spcAft>
              <a:buNone/>
            </a:pPr>
            <a:r>
              <a:rPr lang="en-US" sz="1500" dirty="0">
                <a:solidFill>
                  <a:schemeClr val="bg2"/>
                </a:solidFill>
              </a:rPr>
              <a:t>Three-role RBAC and admin audit trail.</a:t>
            </a:r>
            <a:endParaRPr lang="en-US" sz="1500" dirty="0"/>
          </a:p>
          <a:p>
            <a:pPr indent="0" marL="0">
              <a:spcAft>
                <a:spcPts val="1000"/>
              </a:spcAft>
              <a:buNone/>
            </a:pPr>
            <a:r>
              <a:rPr lang="en-US" sz="1500" dirty="0">
                <a:solidFill>
                  <a:schemeClr val="bg2"/>
                </a:solidFill>
              </a:rPr>
              <a:t>37 documented endpoints, 31 passing tests.</a:t>
            </a:r>
            <a:endParaRPr lang="en-US" sz="1500" dirty="0"/>
          </a:p>
        </p:txBody>
      </p:sp>
      <p:sp>
        <p:nvSpPr>
          <p:cNvPr id="7" name="Shape 5"/>
          <p:cNvSpPr/>
          <p:nvPr/>
        </p:nvSpPr>
        <p:spPr>
          <a:xfrm>
            <a:off x="4297680" y="1463040"/>
            <a:ext cx="3566160" cy="4480560"/>
          </a:xfrm>
          <a:prstGeom prst="roundRect">
            <a:avLst>
              <a:gd name="adj" fmla="val 2564"/>
            </a:avLst>
          </a:prstGeom>
          <a:solidFill>
            <a:schemeClr val="bg1">
              <a:alpha val="8000"/>
            </a:schemeClr>
          </a:solidFill>
          <a:ln/>
        </p:spPr>
      </p:sp>
      <p:sp>
        <p:nvSpPr>
          <p:cNvPr id="8" name="Shape 6"/>
          <p:cNvSpPr/>
          <p:nvPr/>
        </p:nvSpPr>
        <p:spPr>
          <a:xfrm>
            <a:off x="4572000" y="1737360"/>
            <a:ext cx="320040" cy="320040"/>
          </a:xfrm>
          <a:prstGeom prst="ellipse">
            <a:avLst/>
          </a:prstGeom>
          <a:solidFill>
            <a:schemeClr val="accent1"/>
          </a:solidFill>
          <a:ln/>
        </p:spPr>
      </p:sp>
      <p:sp>
        <p:nvSpPr>
          <p:cNvPr id="9" name="Text 7"/>
          <p:cNvSpPr txBox="1"/>
          <p:nvPr/>
        </p:nvSpPr>
        <p:spPr>
          <a:xfrm>
            <a:off x="5074920" y="1719072"/>
            <a:ext cx="2560320" cy="36576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Learned</a:t>
            </a:r>
            <a:endParaRPr lang="en-US" sz="2200" dirty="0"/>
          </a:p>
        </p:txBody>
      </p:sp>
      <p:sp>
        <p:nvSpPr>
          <p:cNvPr id="10" name="Text 8"/>
          <p:cNvSpPr txBox="1"/>
          <p:nvPr/>
        </p:nvSpPr>
        <p:spPr>
          <a:xfrm>
            <a:off x="4572000" y="2468880"/>
            <a:ext cx="3017520" cy="3291840"/>
          </a:xfrm>
          <a:prstGeom prst="rect">
            <a:avLst/>
          </a:prstGeom>
          <a:noFill/>
          <a:ln/>
        </p:spPr>
        <p:txBody>
          <a:bodyPr wrap="square" lIns="0" tIns="0" rIns="0" bIns="0" rtlCol="0" anchor="t"/>
          <a:lstStyle/>
          <a:p>
            <a:pPr indent="0" marL="0">
              <a:spcAft>
                <a:spcPts val="1000"/>
              </a:spcAft>
              <a:buNone/>
            </a:pPr>
            <a:r>
              <a:rPr lang="en-US" sz="1500" dirty="0">
                <a:solidFill>
                  <a:schemeClr val="bg2"/>
                </a:solidFill>
              </a:rPr>
              <a:t>Concurrency belongs in the database, not in application checks.</a:t>
            </a:r>
            <a:endParaRPr lang="en-US" sz="1500" dirty="0"/>
          </a:p>
          <a:p>
            <a:pPr indent="0" marL="0">
              <a:spcAft>
                <a:spcPts val="1000"/>
              </a:spcAft>
              <a:buNone/>
            </a:pPr>
            <a:r>
              <a:rPr lang="en-US" sz="1500" dirty="0">
                <a:solidFill>
                  <a:schemeClr val="bg2"/>
                </a:solidFill>
              </a:rPr>
              <a:t>Indexes are integrity tools.</a:t>
            </a:r>
            <a:endParaRPr lang="en-US" sz="1500" dirty="0"/>
          </a:p>
          <a:p>
            <a:pPr indent="0" marL="0">
              <a:spcAft>
                <a:spcPts val="1000"/>
              </a:spcAft>
              <a:buNone/>
            </a:pPr>
            <a:r>
              <a:rPr lang="en-US" sz="1500" dirty="0">
                <a:solidFill>
                  <a:schemeClr val="bg2"/>
                </a:solidFill>
              </a:rPr>
              <a:t>Decoupling speeds testing.</a:t>
            </a:r>
            <a:endParaRPr lang="en-US" sz="1500" dirty="0"/>
          </a:p>
        </p:txBody>
      </p:sp>
      <p:sp>
        <p:nvSpPr>
          <p:cNvPr id="11" name="Shape 9"/>
          <p:cNvSpPr/>
          <p:nvPr/>
        </p:nvSpPr>
        <p:spPr>
          <a:xfrm>
            <a:off x="8046720" y="1463040"/>
            <a:ext cx="3566160" cy="4480560"/>
          </a:xfrm>
          <a:prstGeom prst="roundRect">
            <a:avLst>
              <a:gd name="adj" fmla="val 2564"/>
            </a:avLst>
          </a:prstGeom>
          <a:solidFill>
            <a:schemeClr val="bg1">
              <a:alpha val="8000"/>
            </a:schemeClr>
          </a:solidFill>
          <a:ln/>
        </p:spPr>
      </p:sp>
      <p:sp>
        <p:nvSpPr>
          <p:cNvPr id="12" name="Shape 10"/>
          <p:cNvSpPr/>
          <p:nvPr/>
        </p:nvSpPr>
        <p:spPr>
          <a:xfrm>
            <a:off x="8321040" y="1737360"/>
            <a:ext cx="320040" cy="320040"/>
          </a:xfrm>
          <a:prstGeom prst="ellipse">
            <a:avLst/>
          </a:prstGeom>
          <a:solidFill>
            <a:schemeClr val="accent3"/>
          </a:solidFill>
          <a:ln/>
        </p:spPr>
      </p:sp>
      <p:sp>
        <p:nvSpPr>
          <p:cNvPr id="13" name="Text 11"/>
          <p:cNvSpPr txBox="1"/>
          <p:nvPr/>
        </p:nvSpPr>
        <p:spPr>
          <a:xfrm>
            <a:off x="8823960" y="1719072"/>
            <a:ext cx="2560320" cy="36576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Next</a:t>
            </a:r>
            <a:endParaRPr lang="en-US" sz="2200" dirty="0"/>
          </a:p>
        </p:txBody>
      </p:sp>
      <p:sp>
        <p:nvSpPr>
          <p:cNvPr id="14" name="Text 12"/>
          <p:cNvSpPr txBox="1"/>
          <p:nvPr/>
        </p:nvSpPr>
        <p:spPr>
          <a:xfrm>
            <a:off x="8321040" y="2468880"/>
            <a:ext cx="3017520" cy="3291840"/>
          </a:xfrm>
          <a:prstGeom prst="rect">
            <a:avLst/>
          </a:prstGeom>
          <a:noFill/>
          <a:ln/>
        </p:spPr>
        <p:txBody>
          <a:bodyPr wrap="square" lIns="0" tIns="0" rIns="0" bIns="0" rtlCol="0" anchor="t"/>
          <a:lstStyle/>
          <a:p>
            <a:pPr indent="0" marL="0">
              <a:spcAft>
                <a:spcPts val="1000"/>
              </a:spcAft>
              <a:buNone/>
            </a:pPr>
            <a:r>
              <a:rPr lang="en-US" sz="1500" dirty="0">
                <a:solidFill>
                  <a:schemeClr val="bg2"/>
                </a:solidFill>
              </a:rPr>
              <a:t>Razorpay payment gateway for online fees.</a:t>
            </a:r>
            <a:endParaRPr lang="en-US" sz="1500" dirty="0"/>
          </a:p>
          <a:p>
            <a:pPr indent="0" marL="0">
              <a:spcAft>
                <a:spcPts val="1000"/>
              </a:spcAft>
              <a:buNone/>
            </a:pPr>
            <a:r>
              <a:rPr lang="en-US" sz="1500" dirty="0">
                <a:solidFill>
                  <a:schemeClr val="bg2"/>
                </a:solidFill>
              </a:rPr>
              <a:t>WebRTC telemedicine consultations.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areSync Clinical">
  <a:themeElements>
    <a:clrScheme name="CareSync Clinical">
      <a:dk1>
        <a:srgbClr val="0F172A"/>
      </a:dk1>
      <a:lt1>
        <a:srgbClr val="FFFFFF"/>
      </a:lt1>
      <a:dk2>
        <a:srgbClr val="334155"/>
      </a:dk2>
      <a:lt2>
        <a:srgbClr val="EEF3F8"/>
      </a:lt2>
      <a:accent1>
        <a:srgbClr val="0284C7"/>
      </a:accent1>
      <a:accent2>
        <a:srgbClr val="10B981"/>
      </a:accent2>
      <a:accent3>
        <a:srgbClr val="D97706"/>
      </a:accent3>
      <a:accent4>
        <a:srgbClr val="DC2626"/>
      </a:accent4>
      <a:accent5>
        <a:srgbClr val="64748B"/>
      </a:accent5>
      <a:accent6>
        <a:srgbClr val="0F766E"/>
      </a:accent6>
      <a:hlink>
        <a:srgbClr val="0284C7"/>
      </a:hlink>
      <a:folHlink>
        <a:srgbClr val="64748B"/>
      </a:folHlink>
    </a:clrScheme>
    <a:fontScheme name="CareSync Clin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CareSync — Healthcare Appointment System</dc:title>
  <dc:subject>PptxGenJS Presentation</dc:subject>
  <dc:creator>Kirtan Patel &amp; Himesh Solanki</dc:creator>
  <cp:lastModifiedBy>Kirtan Patel &amp; Himesh Solanki</cp:lastModifiedBy>
  <cp:revision>1</cp:revision>
  <dcterms:created xsi:type="dcterms:W3CDTF">2026-10-26T05:30:09Z</dcterms:created>
  <dcterms:modified xsi:type="dcterms:W3CDTF">2026-10-26T05:30:09Z</dcterms:modified>
</cp:coreProperties>
</file>