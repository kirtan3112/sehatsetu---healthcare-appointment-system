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</a:defRPr>
            </a:pPr>
            <a:r>
              <a:t>ITM SLS BU — School of Computer Science, Engineering &amp; Technology</a:t>
            </a:r>
          </a:p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TASK-1: COMPARATIVE TECHNOLOGY STUDY</a:t>
            </a:r>
          </a:p>
          <a:p>
            <a:pPr>
              <a:spcAft>
                <a:spcPts val="2400"/>
              </a:spcAft>
              <a:defRPr sz="2200" b="1">
                <a:solidFill>
                  <a:srgbClr val="CCFBF1"/>
                </a:solidFill>
              </a:defRPr>
            </a:pPr>
            <a:r>
              <a:t>CareSync — Healthcare Appointment System (HAS)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Course: Advanced Web Development (AWD) | B.Tech Semester-5 (Winter-2026)</a:t>
            </a:r>
            <a:br/>
            <a:r>
              <a:t>Evaluation: Regular Final Viva-Voce Examination</a:t>
            </a:r>
            <a:br/>
            <a:r>
              <a:t>Topics Covered: REST vs. GraphQL | MongoDB vs. MySQL | React vs. Angular | JWT vs.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TASK-1: COMPARATIVE TECHNOLOGY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Overview: Core Architectural Comparisons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1. API LAYER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RESTful API vs. GraphQL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Resource endpoints, HTTP semantics, granular rate limiting, and conflict resolution (409 Conflict).</a:t>
            </a:r>
          </a:p>
          <a:p>
            <a:pPr>
              <a:defRPr sz="1150" b="1">
                <a:solidFill>
                  <a:srgbClr val="0F766E"/>
                </a:solidFill>
              </a:defRPr>
            </a:pPr>
            <a:r>
              <a:t>✔ Selected: RESTful Express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2. DATABASE ENGINE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MongoDB vs. MySQL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Document flexibility, atomic compare-and-set slot claiming, and partial unique indexes.</a:t>
            </a:r>
          </a:p>
          <a:p>
            <a:pPr>
              <a:defRPr sz="1150" b="1">
                <a:solidFill>
                  <a:srgbClr val="0F766E"/>
                </a:solidFill>
              </a:defRPr>
            </a:pPr>
            <a:r>
              <a:t>✔ Selected: MongoDB + Mongoose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3. CLIENT ARCHITECTURE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React 19 vs. Angular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Component composition, reactive slot picker, sub-second Vite HMR, and lightweight bundle.</a:t>
            </a:r>
          </a:p>
          <a:p>
            <a:pPr>
              <a:defRPr sz="1150" b="1">
                <a:solidFill>
                  <a:srgbClr val="0F766E"/>
                </a:solidFill>
              </a:defRPr>
            </a:pPr>
            <a:r>
              <a:t>✔ Selected: React 19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4. AUTHENTICATION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JWT vs. Session Auth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Stateless bearer authorization, instant RBAC in memory, and decoupled cross-origin frontend.</a:t>
            </a:r>
          </a:p>
          <a:p>
            <a:pPr>
              <a:defRPr sz="1150" b="1">
                <a:solidFill>
                  <a:srgbClr val="0F766E"/>
                </a:solidFill>
              </a:defRPr>
            </a:pPr>
            <a:r>
              <a:t>✔ Selected: JWT Bearer Tokens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TASK-1: COMPARATIVE TECHNOLOGY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Comparative Study 1: RESTful API vs. GraphQL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RESTful API (CareSync)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GraphQL (Alternative)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Endpoint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Multiple resource endpoints (/api/appointments, /api/slots)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Single endpoint (POST /graphql) with query payload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HTTP Status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Rich semantics: 200, 201, 400, 403, 409, 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Returns 200 OK almost always; errors in payload array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Concurrency &amp; 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Standard 409 Conflict on double booking; idempotency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Requires custom mutation resolvers and lock management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Caching &amp;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Native HTTP caching, CDN integration, route-level rate limiter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Complex query cost analysis; difficult CDN edge caching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754880"/>
            <a:ext cx="10728655" cy="1645920"/>
          </a:xfrm>
          <a:prstGeom prst="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PROJECT JUSTIFICATION FOR CARESYNC: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High Concurrency: CareSync handles slot contention by returning 409 Conflict when a slot is already taken.</a:t>
            </a:r>
            <a:br/>
            <a:r>
              <a:t>• Strict RBAC Boundaries: Granular Express middleware guards Patient, Doctor, and Admin routes independently.</a:t>
            </a:r>
            <a:br/>
            <a:r>
              <a:t>• Predictable Security: Global &amp; endpoint rate limiters prevent DoS without needing complex AST query parsing.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TASK-1: COMPARATIVE TECHNOLOGY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Comparative Study 2: MongoDB (NoSQL) vs. MySQL (SQL)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MongoDB (Mongoose ODM)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MySQL (Relational SQL)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Data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BSON documents; dynamic schema with Mongoose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Rigid tabular rows and columns; fixed DDL schemas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Atomic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Atomic findOneAndUpdate compare-and-set slot claiming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Row/table locking (InnoDB); requires transaction blocks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Advanced Indexing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Compound unique (doctorId, date, time) + Partial Unique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B-tree primary/foreign key indexes; triggers for conditional unique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Node.js Synergy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Native JSON/JavaScript integration; zero ORM impedance 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Requires ORM translation layer (Sequelize/Prisma)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754880"/>
            <a:ext cx="10728655" cy="1645920"/>
          </a:xfrm>
          <a:prstGeom prst="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PROJECT JUSTIFICATION FOR CARESYNC: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Atomic Compare-and-Set: 'Slot.findOneAndUpdate({ _id: slotId, isBooked: false }, { $set: { isBooked: true } })' eliminates double-booking in a single DB operation.</a:t>
            </a:r>
            <a:br/>
            <a:r>
              <a:t>• Partial Unique Indexing: 'appointmentSchema.index({ slotId: 1 }, { unique: true, partialFilterExpression: { status: { $in: ["PENDING", "CONFIRMED"] } } })'.</a:t>
            </a:r>
            <a:br/>
            <a:r>
              <a:t>• Flexible Clinical Profiles: Seamlessly handles diverse doctor qualifications, bio, and weekly availability schedules.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TASK-1: COMPARATIVE TECHNOLOGY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Comparative Study 3: React 19 vs. Angular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React 19 (Vite)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Angular (v18+)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Declarative UI component library; modular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Monolithic enterprise MVC/MVVM framework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Language &amp;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JavaScript/TypeScript with JSX; functional components + 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Strict TypeScript with HTML templates, decorators &amp; RxJS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Build &amp; Dev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Vite build toolchain (ESBuild); millisecond HMR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Angular CLI with Webpack/esbuild; heavier compilation overhead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Bundle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Lightweight (~45 KB core runtime footprint)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Heavier baseline framework runtime (~130 KB+ baseline)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754880"/>
            <a:ext cx="10728655" cy="1645920"/>
          </a:xfrm>
          <a:prstGeom prst="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PROJECT JUSTIFICATION FOR CARESYNC: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Fluid Multi-Role Experience: Seamless 1-click persona switching (Patient, Doctor, Admin) without full-page reloads.</a:t>
            </a:r>
            <a:br/>
            <a:r>
              <a:t>• Interactive 14-Day Slot Grid: Declarative state updates render available time slots in real time.</a:t>
            </a:r>
            <a:br/>
            <a:r>
              <a:t>• Pure Vanilla CSS System: Allows direct, unencumbered CSS styling for modern glassmorphism, responsive cards, and zero UI lag.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TASK-1: COMPARATIVE TECHNOLOGY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Comparative Study 4: JWT vs. Session-Based Authentication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JWT Authentication (CareSync)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Session Authentication (Alternative)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100% Stateless; zero server memory allocated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Stateful; server must maintain active session records in Redis/DB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Verification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Cryptographic HMAC-SHA256 verification in CPU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Database/Cache round-trip required on every single request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Horizontal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Trivially scalable; any server instance validates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Requires centralized cache (Redis) or sticky sessions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CORS &amp; SPAs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Authorization: Bearer header natively handles decoupled 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Complex cookie sharing, SameSite flags, and CSRF vulnerabilities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754880"/>
            <a:ext cx="10728655" cy="1645920"/>
          </a:xfrm>
          <a:prstGeom prst="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PROJECT JUSTIFICATION FOR CARESYNC: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In-Memory RBAC Validation: Role claims (PATIENT, DOCTOR, ADMIN) are verified instantly without querying MongoDB.</a:t>
            </a:r>
            <a:br/>
            <a:r>
              <a:t>• Decoupled Architecture: React on Port 5173 communicates with Express on Port 5000 without third-party cookie restrictions.</a:t>
            </a:r>
            <a:br/>
            <a:r>
              <a:t>• 1-Click Demo Evaluation: Tokens are issued immediately for seamless viva evaluation and multi-role testing.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TASK-1: COMPARATIVE TECHNOLOGY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Architectural Synthesis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F766E"/>
                </a:solidFill>
              </a:defRPr>
            </a:pPr>
            <a:r>
              <a:t>Unified Full-Stack Synergy in CareSync: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High Concurrency Protection: </a:t>
            </a:r>
            <a:r>
              <a:rPr sz="1300">
                <a:solidFill>
                  <a:srgbClr val="475569"/>
                </a:solidFill>
              </a:rPr>
              <a:t>MongoDB atomic compare-and-set + partial unique indexes prevent double-booking at the database engine level.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Predictable API Semantics: </a:t>
            </a:r>
            <a:r>
              <a:rPr sz="1300">
                <a:solidFill>
                  <a:srgbClr val="475569"/>
                </a:solidFill>
              </a:rPr>
              <a:t>Express REST API provides RFC-compliant HTTP status codes (201, 403, 409, 429) and standard response envelopes.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Instantaneous Access Control: </a:t>
            </a:r>
            <a:r>
              <a:rPr sz="1300">
                <a:solidFill>
                  <a:srgbClr val="475569"/>
                </a:solidFill>
              </a:rPr>
              <a:t>Stateless JWT Bearer tokens provide sub-millisecond RBAC route authorization in memory.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Modern User Experience: </a:t>
            </a:r>
            <a:r>
              <a:rPr sz="1300">
                <a:solidFill>
                  <a:srgbClr val="475569"/>
                </a:solidFill>
              </a:rPr>
              <a:t>React 19 + Vite delivers responsive slot picking, instant role switching, and zero UI latency with pure Vanilla CSS.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Full Curriculum Compliance: </a:t>
            </a:r>
            <a:r>
              <a:rPr sz="1300">
                <a:solidFill>
                  <a:srgbClr val="475569"/>
                </a:solidFill>
              </a:rPr>
              <a:t>Strictly conforms to ITM SLS BU Semester-5 AWD requirements and Project-Based Learning objectives.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