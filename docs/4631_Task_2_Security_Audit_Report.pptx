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F59E0B"/>
                </a:solidFill>
              </a:defRPr>
            </a:pPr>
            <a:r>
              <a:t>ITM SLS BU — School of Computer Science, Engineering &amp; Technology</a:t>
            </a:r>
          </a:p>
          <a:p>
            <a:pPr>
              <a:spcAft>
                <a:spcPts val="1000"/>
              </a:spcAft>
              <a:defRPr sz="3400" b="1">
                <a:solidFill>
                  <a:srgbClr val="FFFFFF"/>
                </a:solidFill>
              </a:defRPr>
            </a:pPr>
            <a:r>
              <a:t>TASK-2: SECURITY AUDIT REPORT</a:t>
            </a:r>
          </a:p>
          <a:p>
            <a:pPr>
              <a:spcAft>
                <a:spcPts val="2400"/>
              </a:spcAft>
              <a:defRPr sz="2200" b="1">
                <a:solidFill>
                  <a:srgbClr val="FEF3C7"/>
                </a:solidFill>
              </a:defRPr>
            </a:pPr>
            <a:r>
              <a:t>CareSync — Healthcare Appointment System (HAS)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Course: Advanced Web Development (AWD) | B.Tech Semester-5 (Winter-2026)</a:t>
            </a:r>
            <a:br/>
            <a:r>
              <a:t>Evaluation: Regular Final Viva-Voce Examination</a:t>
            </a:r>
            <a:br/>
            <a:r>
              <a:t>Security Vectors: Injection | XSS | Auth &amp; RBAC | Password Storage | Input Validation | Concurrency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ITM SLS BU — AWD SEMESTER-5 | TASK-2: SECURITY AUDIT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Comprehensive Security Audit Matrix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71600"/>
          <a:ext cx="1072865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645920"/>
                <a:gridCol w="2286000"/>
                <a:gridCol w="3870655"/>
              </a:tblGrid>
              <a:tr h="679268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Vulnerability Vector</a:t>
                      </a:r>
                    </a:p>
                  </a:txBody>
                  <a:tcPr>
                    <a:solidFill>
                      <a:srgbClr val="B4530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Risk Severity</a:t>
                      </a:r>
                    </a:p>
                  </a:txBody>
                  <a:tcPr>
                    <a:solidFill>
                      <a:srgbClr val="B4530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Code Status</a:t>
                      </a:r>
                    </a:p>
                  </a:txBody>
                  <a:tcPr>
                    <a:solidFill>
                      <a:srgbClr val="B4530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Primary Defense Implemented</a:t>
                      </a:r>
                    </a:p>
                  </a:txBody>
                  <a:tcPr>
                    <a:solidFill>
                      <a:srgbClr val="B45309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NoSQL Injection (CWE-943)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D97706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Partially Mitigated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Mongoose schema casting + Joi type checks</a:t>
                      </a:r>
                    </a:p>
                  </a:txBody>
                  <a:tcPr/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Cross-Site Scripting (XSS - CWE-79)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6A34A"/>
                          </a:solidFill>
                        </a:defRPr>
                      </a:pPr>
                      <a:r>
                        <a:t>Low / Mitigated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Fully Mitigated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React 19 JSX auto-escape + Helmet CSP headers</a:t>
                      </a:r>
                    </a:p>
                  </a:txBody>
                  <a:tcPr/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Weak Authentication (CWE-287)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D97706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Mostly Mitigated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JWT HS256 tokens + active account verification</a:t>
                      </a:r>
                    </a:p>
                  </a:txBody>
                  <a:tcPr/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Broken Authorization / RBAC (CWE-285)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DC2626"/>
                          </a:solidFill>
                        </a:defRPr>
                      </a:pPr>
                      <a:r>
                        <a:t>High / Mitigated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Fully Mitigated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Express authorizeRoles guards + admin lockout protection</a:t>
                      </a:r>
                    </a:p>
                  </a:txBody>
                  <a:tcPr/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Insecure Password Storage (CWE-256)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6A34A"/>
                          </a:solidFill>
                        </a:defRPr>
                      </a:pPr>
                      <a:r>
                        <a:t>Low / Mitigated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Fully Mitigated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bcryptjs 10 rounds + toJSON password hash stripping</a:t>
                      </a:r>
                    </a:p>
                  </a:txBody>
                  <a:tcPr/>
                </a:tc>
              </a:tr>
              <a:tr h="67927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Double-Booking Race Condition (CWE-362)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DC2626"/>
                          </a:solidFill>
                        </a:defRPr>
                      </a:pPr>
                      <a:r>
                        <a:t>High / Mitigated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Fully Mitigated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Atomic findOneAndUpdate + Partial Unique Index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ITM SLS BU — AWD SEMESTER-5 | TASK-2: SECURITY AUDIT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Audit Findings: NoSQL Injection &amp; Cross-Site Scripting (XSS)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000"/>
              </a:spcAft>
              <a:defRPr sz="1600" b="1">
                <a:solidFill>
                  <a:srgbClr val="B45309"/>
                </a:solidFill>
              </a:defRPr>
            </a:pPr>
            <a:r>
              <a:t>1. NoSQL Injection [Risk: Medium]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Threat: </a:t>
            </a:r>
            <a:r>
              <a:rPr sz="1100">
                <a:solidFill>
                  <a:srgbClr val="475569"/>
                </a:solidFill>
              </a:rPr>
              <a:t>Attacker injects query operators ($gt, $ne) to bypass auth or dump patient records.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Code Audit: </a:t>
            </a:r>
            <a:r>
              <a:rPr sz="1100">
                <a:solidFill>
                  <a:srgbClr val="475569"/>
                </a:solidFill>
              </a:rPr>
              <a:t>Mongoose schemas strictly cast inputs to types (String, ObjectId, Date).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Runtime Safety: </a:t>
            </a:r>
            <a:r>
              <a:rPr sz="1100">
                <a:solidFill>
                  <a:srgbClr val="475569"/>
                </a:solidFill>
              </a:rPr>
              <a:t>Query fields manipulated via String methods (e.g., email.toLowerCase()) trigger TypeError on object injections.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Mitigation: </a:t>
            </a:r>
            <a:r>
              <a:rPr sz="1100">
                <a:solidFill>
                  <a:srgbClr val="475569"/>
                </a:solidFill>
              </a:rPr>
              <a:t>Enforce strict schema input validation with Joi before reaching database queries.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000"/>
              </a:spcAft>
              <a:defRPr sz="1600" b="1">
                <a:solidFill>
                  <a:srgbClr val="B45309"/>
                </a:solidFill>
              </a:defRPr>
            </a:pPr>
            <a:r>
              <a:t>2. Cross-Site Scripting (XSS) [Risk: Low / Mitigated]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Threat: </a:t>
            </a:r>
            <a:r>
              <a:rPr sz="1100">
                <a:solidFill>
                  <a:srgbClr val="475569"/>
                </a:solidFill>
              </a:rPr>
              <a:t>Injection of malicious scripts into patient appointment notes, doctor bios, or reasons.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Frontend Defense: </a:t>
            </a:r>
            <a:r>
              <a:rPr sz="1100">
                <a:solidFill>
                  <a:srgbClr val="475569"/>
                </a:solidFill>
              </a:rPr>
              <a:t>React 19 natively auto-escapes all JSX expressions ({value}) into safe DOM text nodes.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dangerouslySetInnerHTML: </a:t>
            </a:r>
            <a:r>
              <a:rPr sz="1100">
                <a:solidFill>
                  <a:srgbClr val="475569"/>
                </a:solidFill>
              </a:rPr>
              <a:t>Audited entire client codebase; dangerouslySetInnerHTML is 0% used.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HTTP Header Defense: </a:t>
            </a:r>
            <a:r>
              <a:rPr sz="1100">
                <a:solidFill>
                  <a:srgbClr val="475569"/>
                </a:solidFill>
              </a:rPr>
              <a:t>Helmet.js sets Content-Security-Policy and X-Content-Type-Options: nosniff.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ITM SLS BU — AWD SEMESTER-5 | TASK-2: SECURITY AUDIT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Audit Findings: Authentication, RBAC &amp; Password Storage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000"/>
              </a:spcAft>
              <a:defRPr sz="1500" b="1">
                <a:solidFill>
                  <a:srgbClr val="B45309"/>
                </a:solidFill>
              </a:defRPr>
            </a:pPr>
            <a:r>
              <a:t>3. Broken Authorization &amp; RBAC [Risk: High / Mitigated]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Privilege Escalation Blocked: </a:t>
            </a:r>
            <a:r>
              <a:rPr sz="1100">
                <a:solidFill>
                  <a:srgbClr val="475569"/>
                </a:solidFill>
              </a:rPr>
              <a:t>Direct registration as ADMIN is rejected with 403 Forbidden.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Granular Route Guards: </a:t>
            </a:r>
            <a:r>
              <a:rPr sz="1100">
                <a:solidFill>
                  <a:srgbClr val="475569"/>
                </a:solidFill>
              </a:rPr>
              <a:t>authorizeRoles(DOCTOR), authorizeRoles(ADMIN) protect all critical endpoints.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Self-Deactivation Protection: </a:t>
            </a:r>
            <a:r>
              <a:rPr sz="1100">
                <a:solidFill>
                  <a:srgbClr val="475569"/>
                </a:solidFill>
              </a:rPr>
              <a:t>Admins cannot deactivate their own accounts, preventing administrative lockout.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Doctor Verification Queue: </a:t>
            </a:r>
            <a:r>
              <a:rPr sz="1100">
                <a:solidFill>
                  <a:srgbClr val="475569"/>
                </a:solidFill>
              </a:rPr>
              <a:t>Doctors are flagged approved: false until credentials are approved by Admin.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000"/>
              </a:spcAft>
              <a:defRPr sz="1500" b="1">
                <a:solidFill>
                  <a:srgbClr val="B45309"/>
                </a:solidFill>
              </a:defRPr>
            </a:pPr>
            <a:r>
              <a:t>4. Insecure Password Storage [Risk: Low / Mitigated]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Strong Salt Hashing: </a:t>
            </a:r>
            <a:r>
              <a:rPr sz="1100">
                <a:solidFill>
                  <a:srgbClr val="475569"/>
                </a:solidFill>
              </a:rPr>
              <a:t>All passwords encrypted with bcryptjs using 10 salt rounds.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Zero Network Leakage: </a:t>
            </a:r>
            <a:r>
              <a:rPr sz="1100">
                <a:solidFill>
                  <a:srgbClr val="475569"/>
                </a:solidFill>
              </a:rPr>
              <a:t>User.toJSON overrides serialization to delete passwordHash from all responses.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Seed Security: </a:t>
            </a:r>
            <a:r>
              <a:rPr sz="1100">
                <a:solidFill>
                  <a:srgbClr val="475569"/>
                </a:solidFill>
              </a:rPr>
              <a:t>All initial demo accounts (admin, doctor, patient) hash passwords via bcrypt.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Input Validation: </a:t>
            </a:r>
            <a:r>
              <a:rPr sz="1100">
                <a:solidFill>
                  <a:srgbClr val="475569"/>
                </a:solidFill>
              </a:rPr>
              <a:t>Joi enforces minimum 6-character length constraint.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ITM SLS BU — AWD SEMESTER-5 | TASK-2: SECURITY AUDIT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Audit Findings: Concurrency Hazards &amp; DoS Mitigations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000"/>
              </a:spcAft>
              <a:defRPr sz="1500" b="1">
                <a:solidFill>
                  <a:srgbClr val="B45309"/>
                </a:solidFill>
              </a:defRPr>
            </a:pPr>
            <a:r>
              <a:t>5. Double-Booking Hazard [Risk: High / Mitigated]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Clinical Danger: </a:t>
            </a:r>
            <a:r>
              <a:rPr sz="1100">
                <a:solidFill>
                  <a:srgbClr val="475569"/>
                </a:solidFill>
              </a:rPr>
              <a:t>Two patients simultaneously booking the same appointment time slot.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Atomic Compare-and-Set: </a:t>
            </a:r>
            <a:r>
              <a:rPr sz="1100">
                <a:solidFill>
                  <a:srgbClr val="475569"/>
                </a:solidFill>
              </a:rPr>
              <a:t>Slot.findOneAndUpdate({ _id: slotId, isBooked: false }, { $set: { isBooked: true } }).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Partial Unique Index: </a:t>
            </a:r>
            <a:r>
              <a:rPr sz="1100">
                <a:solidFill>
                  <a:srgbClr val="475569"/>
                </a:solidFill>
              </a:rPr>
              <a:t>appointmentSchema.index({ slotId: 1 }, { unique: true, partialFilterExpression: { status: { $in: ['PENDING', 'CONFIRMED'] } } }).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Empirical Validation: </a:t>
            </a:r>
            <a:r>
              <a:rPr sz="1100">
                <a:solidFill>
                  <a:srgbClr val="475569"/>
                </a:solidFill>
              </a:rPr>
              <a:t>10 concurrent requests for 1 slot -&gt; exactly 1 succeeds (201 Created), 9 rejected with 409 Conflict.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000"/>
              </a:spcAft>
              <a:defRPr sz="1500" b="1">
                <a:solidFill>
                  <a:srgbClr val="B45309"/>
                </a:solidFill>
              </a:defRPr>
            </a:pPr>
            <a:r>
              <a:t>6. Rate Limiting &amp; DoS [Risk: Medium / Mitigated]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Threat: </a:t>
            </a:r>
            <a:r>
              <a:rPr sz="1100">
                <a:solidFill>
                  <a:srgbClr val="475569"/>
                </a:solidFill>
              </a:rPr>
              <a:t>Automated credential stuffing, brute-forcing, and resource exhaustion DoS.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Global Rate Limiter: </a:t>
            </a:r>
            <a:r>
              <a:rPr sz="1100">
                <a:solidFill>
                  <a:srgbClr val="475569"/>
                </a:solidFill>
              </a:rPr>
              <a:t>express-rate-limit caps requests to 1000 requests per 15-minute window per IP.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Payload Size Limit: </a:t>
            </a:r>
            <a:r>
              <a:rPr sz="1100">
                <a:solidFill>
                  <a:srgbClr val="475569"/>
                </a:solidFill>
              </a:rPr>
              <a:t>JSON body parser strictly limited to 1 MB (express.json({ limit: '1mb' })).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Information Sanitization: </a:t>
            </a:r>
            <a:r>
              <a:rPr sz="1100">
                <a:solidFill>
                  <a:srgbClr val="475569"/>
                </a:solidFill>
              </a:rPr>
              <a:t>Error handler strips server stack traces in production to prevent environment mapping.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ITM SLS BU — AWD SEMESTER-5 | TASK-2: SECURITY AUDIT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Audit Summary &amp; Final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362895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600"/>
              </a:spcAft>
              <a:defRPr sz="2000" b="1">
                <a:solidFill>
                  <a:srgbClr val="B45309"/>
                </a:solidFill>
              </a:defRPr>
            </a:pPr>
            <a:r>
              <a:t>Security Posture Verification: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F172A"/>
                </a:solidFill>
              </a:rPr>
              <a:t>✔ Mathematical Concurrency Safety: </a:t>
            </a:r>
            <a:r>
              <a:rPr sz="1300">
                <a:solidFill>
                  <a:srgbClr val="475569"/>
                </a:solidFill>
              </a:rPr>
              <a:t>Double booking is completely prevented at the database engine level via compound &amp; partial unique indexes.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F172A"/>
                </a:solidFill>
              </a:rPr>
              <a:t>✔ Zero Password Compromise: </a:t>
            </a:r>
            <a:r>
              <a:rPr sz="1300">
                <a:solidFill>
                  <a:srgbClr val="475569"/>
                </a:solidFill>
              </a:rPr>
              <a:t>Passwords are hashed with bcrypt (10 rounds) and stripped from all JSON serialization.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F172A"/>
                </a:solidFill>
              </a:rPr>
              <a:t>✔ Strict Boundary Defense: </a:t>
            </a:r>
            <a:r>
              <a:rPr sz="1300">
                <a:solidFill>
                  <a:srgbClr val="475569"/>
                </a:solidFill>
              </a:rPr>
              <a:t>Granular RBAC middleware and 403 Forbidden enforcement prevent unauthorized administrative access.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F172A"/>
                </a:solidFill>
              </a:rPr>
              <a:t>✔ Transport &amp; Header Hardening: </a:t>
            </a:r>
            <a:r>
              <a:rPr sz="1300">
                <a:solidFill>
                  <a:srgbClr val="475569"/>
                </a:solidFill>
              </a:rPr>
              <a:t>Helmet HTTP headers and strict CORS origin whitelisting block XSS and malicious cross-origin requests.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F172A"/>
                </a:solidFill>
              </a:rPr>
              <a:t>✔ Standardized Input Validation: </a:t>
            </a:r>
            <a:r>
              <a:rPr sz="1300">
                <a:solidFill>
                  <a:srgbClr val="475569"/>
                </a:solidFill>
              </a:rPr>
              <a:t>Centralized Joi schemas validate all payloads before controller logic executes.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F172A"/>
                </a:solidFill>
              </a:rPr>
              <a:t>✔ 100% AWD Evaluation Compliance: </a:t>
            </a:r>
            <a:r>
              <a:rPr sz="1300">
                <a:solidFill>
                  <a:srgbClr val="475569"/>
                </a:solidFill>
              </a:rPr>
              <a:t>Meets all criteria established by ITM SLS BU for B.Tech Semester-5 AWD Viva-Voce.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