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8BDF8"/>
                </a:solidFill>
              </a:defRPr>
            </a:pPr>
            <a:r>
              <a:t>ITM SLS BU — School of Computer Science, Engineering &amp; Technology</a:t>
            </a:r>
          </a:p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TASK-3: SECURITY LIBRARIES IMPLEMENTATION</a:t>
            </a:r>
          </a:p>
          <a:p>
            <a:pPr>
              <a:spcAft>
                <a:spcPts val="2400"/>
              </a:spcAft>
              <a:defRPr sz="2200" b="1">
                <a:solidFill>
                  <a:srgbClr val="E0F2FE"/>
                </a:solidFill>
              </a:defRPr>
            </a:pPr>
            <a:r>
              <a:t>Demonstration of Helmet.js, bcrypt, and Joi in CareSync (HAS)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Course: Advanced Web Development (AWD) | B.Tech Semester-5 (Winter-2026)</a:t>
            </a:r>
            <a:br/>
            <a:r>
              <a:t>Evaluation: Regular Final Viva-Voce Examination</a:t>
            </a:r>
            <a:br/>
            <a:r>
              <a:t>Libraries: Helmet.js (HTTP Headers) | bcrypt (Password Hashing) | Joi (Input Validation)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ITM SLS BU — AWD SEMESTER-5 | TASK-3: SECURITY LIBRARIES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Three-Tier Defensive Security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TIER 1: TRANSPORT &amp; HEADERS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Helmet.js (^8.0.0): Sets defensive HTTP headers (nosniff, SAMEORIGIN, CSP) and removes X-Powered-By fingerprint.</a:t>
            </a:r>
          </a:p>
          <a:p>
            <a:pPr>
              <a:defRPr sz="1050" b="1">
                <a:solidFill>
                  <a:srgbClr val="0E7490"/>
                </a:solidFill>
              </a:defRPr>
            </a:pPr>
            <a:r>
              <a:t>✔ Implemented in server/src/app.js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TIER 2: REQUEST VALIDATION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Joi (^18.3.0): Validates request payload schemas, strips malicious unknown fields, and rejects invalid input with 400 Bad Request.</a:t>
            </a:r>
          </a:p>
          <a:p>
            <a:pPr>
              <a:defRPr sz="1050" b="1">
                <a:solidFill>
                  <a:srgbClr val="0E7490"/>
                </a:solidFill>
              </a:defRPr>
            </a:pPr>
            <a:r>
              <a:t>✔ Implemented in server/src/middlewares/validate.js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036289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</a:defRPr>
            </a:pPr>
            <a:r>
              <a:t>TIER 3: CRYPTOGRAPHY &amp; AUTH</a:t>
            </a:r>
          </a:p>
          <a:p>
            <a:pPr>
              <a:defRPr sz="1200" b="0">
                <a:solidFill>
                  <a:srgbClr val="0F172A"/>
                </a:solidFill>
              </a:defRPr>
            </a:pPr>
            <a:r>
              <a:t>bcryptjs (^3.0.2): Hashes passwords with 10 salt rounds and constant-time verification; strips passwordHash from responses.</a:t>
            </a:r>
          </a:p>
          <a:p>
            <a:pPr>
              <a:defRPr sz="1050" b="1">
                <a:solidFill>
                  <a:srgbClr val="0E7490"/>
                </a:solidFill>
              </a:defRPr>
            </a:pPr>
            <a:r>
              <a:t>✔ Implemented in server/src/controllers/authController.js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ITM SLS BU — AWD SEMESTER-5 | TASK-3: SECURITY LIBRARIES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Library 1: Helmet.js — HTTP Security Headers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INTEGRATION CODE (app.js)</a:t>
            </a:r>
          </a:p>
          <a:p>
            <a:pPr>
              <a:defRPr sz="1100">
                <a:solidFill>
                  <a:srgbClr val="E0F2FE"/>
                </a:solidFill>
              </a:defRPr>
            </a:pPr>
            <a:r>
              <a:t>const express = require('express');</a:t>
            </a:r>
            <a:br/>
            <a:r>
              <a:t>const helmet = require('helmet');</a:t>
            </a:r>
            <a:br/>
            <a:br/>
            <a:r>
              <a:t>const app = express();</a:t>
            </a:r>
            <a:br/>
            <a:br/>
            <a:r>
              <a:t>// Configure HTTP security headers</a:t>
            </a:r>
            <a:br/>
            <a:r>
              <a:t>app.use(helmet());</a:t>
            </a:r>
            <a:br/>
            <a:br/>
            <a:r>
              <a:t>// Helmet automatically applies:</a:t>
            </a:r>
            <a:br/>
            <a:r>
              <a:t>// • Content-Security-Policy</a:t>
            </a:r>
            <a:br/>
            <a:r>
              <a:t>// • Cross-Origin-Opener-Policy</a:t>
            </a:r>
            <a:br/>
            <a:r>
              <a:t>// • X-Content-Type-Options: nosniff</a:t>
            </a:r>
            <a:br/>
            <a:r>
              <a:t>// • X-Frame-Options: SAMEORIGIN</a:t>
            </a:r>
            <a:br/>
            <a:r>
              <a:t>// • X-DNS-Prefetch-Control: off</a:t>
            </a:r>
            <a:br/>
            <a:r>
              <a:t>// • Removes X-Powered-By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LIVE EXECUTION RESULTS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X-Content-Type-Options: </a:t>
            </a:r>
            <a:r>
              <a:rPr sz="1050">
                <a:solidFill>
                  <a:srgbClr val="475569"/>
                </a:solidFill>
              </a:rPr>
              <a:t>'nosniff' -&gt; Prevents MIME sniffing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X-Frame-Options: </a:t>
            </a:r>
            <a:r>
              <a:rPr sz="1050">
                <a:solidFill>
                  <a:srgbClr val="475569"/>
                </a:solidFill>
              </a:rPr>
              <a:t>'SAMEORIGIN' -&gt; Blocks clickjacking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X-DNS-Prefetch-Control: </a:t>
            </a:r>
            <a:r>
              <a:rPr sz="1050">
                <a:solidFill>
                  <a:srgbClr val="475569"/>
                </a:solidFill>
              </a:rPr>
              <a:t>'off' -&gt; Protects patient URLs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X-Download-Options: </a:t>
            </a:r>
            <a:r>
              <a:rPr sz="1050">
                <a:solidFill>
                  <a:srgbClr val="475569"/>
                </a:solidFill>
              </a:rPr>
              <a:t>'noopen' -&gt; Blocks direct file execution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X-Powered-By: </a:t>
            </a:r>
            <a:r>
              <a:rPr sz="1050">
                <a:solidFill>
                  <a:srgbClr val="475569"/>
                </a:solidFill>
              </a:rPr>
              <a:t>null -&gt; Completely stripped (Zero fingerprinting)</a:t>
            </a:r>
          </a:p>
          <a:p>
            <a:br/>
            <a:pPr>
              <a:defRPr b="1" sz="1100">
                <a:solidFill>
                  <a:srgbClr val="16A34A"/>
                </a:solidFill>
              </a:defRPr>
            </a:pPr>
            <a:r>
              <a:t>Test Status: PASSED (server/test/task3_security_libraries.test.js)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ITM SLS BU — AWD SEMESTER-5 | TASK-3: SECURITY LIBRARIES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Library 2: bcrypt — Cryptographic Password Hashing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HASHING &amp; COMPARISON CODE</a:t>
            </a:r>
          </a:p>
          <a:p>
            <a:pPr>
              <a:defRPr sz="1050">
                <a:solidFill>
                  <a:srgbClr val="E0F2FE"/>
                </a:solidFill>
              </a:defRPr>
            </a:pPr>
            <a:r>
              <a:t>const bcrypt = require('bcryptjs');</a:t>
            </a:r>
            <a:br/>
            <a:br/>
            <a:r>
              <a:t>// 1. Hash password during registration</a:t>
            </a:r>
            <a:br/>
            <a:r>
              <a:t>const saltRounds = 10;</a:t>
            </a:r>
            <a:br/>
            <a:r>
              <a:t>const passwordHash = await bcrypt.hash(password, saltRounds);</a:t>
            </a:r>
            <a:br/>
            <a:br/>
            <a:r>
              <a:t>// 2. Verify password during login</a:t>
            </a:r>
            <a:br/>
            <a:r>
              <a:t>const isMatch = await bcrypt.compare(password, user.passwordHash);</a:t>
            </a:r>
            <a:br/>
            <a:r>
              <a:t>if (!isMatch) {</a:t>
            </a:r>
            <a:br/>
            <a:r>
              <a:t>  return sendError(res, 401, 'INVALID_CREDENTIALS');</a:t>
            </a:r>
            <a:br/>
            <a:r>
              <a:t>}</a:t>
            </a:r>
            <a:br/>
            <a:br/>
            <a:r>
              <a:t>// 3. User schema suppresses hash in JSON</a:t>
            </a:r>
            <a:br/>
            <a:r>
              <a:t>userSchema.methods.toJSON = function () {</a:t>
            </a:r>
            <a:br/>
            <a:r>
              <a:t>  const obj = this.toObject();</a:t>
            </a:r>
            <a:br/>
            <a:r>
              <a:t>  delete obj.passwordHash;</a:t>
            </a:r>
            <a:br/>
            <a:r>
              <a:t>  return obj;</a:t>
            </a:r>
            <a:br/>
            <a:r>
              <a:t>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LIVE EXECUTION RESULTS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Input Password: </a:t>
            </a:r>
            <a:r>
              <a:rPr sz="1050">
                <a:solidFill>
                  <a:srgbClr val="475569"/>
                </a:solidFill>
              </a:rPr>
              <a:t>'MedicalSecurePassword@2026'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Hash 1 (Salt Round 10): </a:t>
            </a:r>
            <a:r>
              <a:rPr sz="1050">
                <a:solidFill>
                  <a:srgbClr val="475569"/>
                </a:solidFill>
              </a:rPr>
              <a:t>$2b$10$HSoPChhbpcGAIyc59D...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Hash 2 (Salt Round 10): </a:t>
            </a:r>
            <a:r>
              <a:rPr sz="1050">
                <a:solidFill>
                  <a:srgbClr val="475569"/>
                </a:solidFill>
              </a:rPr>
              <a:t>$2b$10$gnkkTNo1.heW7lV/VS...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Distinct Salts Generated: </a:t>
            </a:r>
            <a:r>
              <a:rPr sz="1050">
                <a:solidFill>
                  <a:srgbClr val="475569"/>
                </a:solidFill>
              </a:rPr>
              <a:t>true (Rainbow tables completely defeated)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Matching Password Compare: </a:t>
            </a:r>
            <a:r>
              <a:rPr sz="1050">
                <a:solidFill>
                  <a:srgbClr val="475569"/>
                </a:solidFill>
              </a:rPr>
              <a:t>true (Authentication succeeds)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Wrong Password Compare: </a:t>
            </a:r>
            <a:r>
              <a:rPr sz="1050">
                <a:solidFill>
                  <a:srgbClr val="475569"/>
                </a:solidFill>
              </a:rPr>
              <a:t>false (Rejected with 401)</a:t>
            </a:r>
          </a:p>
          <a:p>
            <a:br/>
            <a:pPr>
              <a:defRPr b="1" sz="1100">
                <a:solidFill>
                  <a:srgbClr val="16A34A"/>
                </a:solidFill>
              </a:defRPr>
            </a:pPr>
            <a:r>
              <a:t>Test Status: PASSED (Execution time: 342ms)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ITM SLS BU — AWD SEMESTER-5 | TASK-3: SECURITY LIBRARIES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Library 3: Joi — Schema Input Validation Middleware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SCHEMA VALIDATION MIDDLEWARE</a:t>
            </a:r>
          </a:p>
          <a:p>
            <a:pPr>
              <a:defRPr sz="1000">
                <a:solidFill>
                  <a:srgbClr val="E0F2FE"/>
                </a:solidFill>
              </a:defRPr>
            </a:pPr>
            <a:r>
              <a:t>// 1. Joi Schema Definition (schemas.js)</a:t>
            </a:r>
            <a:br/>
            <a:r>
              <a:t>const registerSchema = Joi.object({</a:t>
            </a:r>
            <a:br/>
            <a:r>
              <a:t>  name: Joi.string().trim().min(2).required(),</a:t>
            </a:r>
            <a:br/>
            <a:r>
              <a:t>  email: Joi.string().trim().email().required(),</a:t>
            </a:r>
            <a:br/>
            <a:r>
              <a:t>  password: Joi.string().min(6).required(),</a:t>
            </a:r>
            <a:br/>
            <a:r>
              <a:t>  role: Joi.string().valid('PATIENT', 'DOCTOR', 'ADMIN')</a:t>
            </a:r>
            <a:br/>
            <a:r>
              <a:t>});</a:t>
            </a:r>
            <a:br/>
            <a:br/>
            <a:r>
              <a:t>// 2. Validation Middleware (validate.js)</a:t>
            </a:r>
            <a:br/>
            <a:r>
              <a:t>const validate = (schema) =&gt; (req, res, next) =&gt; {</a:t>
            </a:r>
            <a:br/>
            <a:r>
              <a:t>  const { error, value } = schema.validate(req.body, {</a:t>
            </a:r>
            <a:br/>
            <a:r>
              <a:t>    abortEarly: false,</a:t>
            </a:r>
            <a:br/>
            <a:r>
              <a:t>    stripUnknown: true</a:t>
            </a:r>
            <a:br/>
            <a:r>
              <a:t>  });</a:t>
            </a:r>
            <a:br/>
            <a:r>
              <a:t>  if (error) {</a:t>
            </a:r>
            <a:br/>
            <a:r>
              <a:t>    return sendError(res, 400, 'VALIDATION_ERROR', ...);</a:t>
            </a:r>
            <a:br/>
            <a:r>
              <a:t>  }</a:t>
            </a:r>
            <a:br/>
            <a:r>
              <a:t>  req.body = value;</a:t>
            </a:r>
            <a:br/>
            <a:r>
              <a:t>  next();</a:t>
            </a:r>
            <a:br/>
            <a:r>
              <a:t>};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300" b="1">
                <a:solidFill>
                  <a:srgbClr val="0284C7"/>
                </a:solidFill>
              </a:defRPr>
            </a:pPr>
            <a:r>
              <a:t>LIVE EXECUTION RESULTS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Malformed Email &amp; Short Password: </a:t>
            </a:r>
            <a:r>
              <a:rPr sz="1050">
                <a:solidFill>
                  <a:srgbClr val="475569"/>
                </a:solidFill>
              </a:rPr>
              <a:t>Rejected with 400 Bad Request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Error Code Emitted: </a:t>
            </a:r>
            <a:r>
              <a:rPr sz="1050">
                <a:solidFill>
                  <a:srgbClr val="475569"/>
                </a:solidFill>
              </a:rPr>
              <a:t>'VALIDATION_ERROR' in standard envelope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Granular Messages: </a:t>
            </a:r>
            <a:r>
              <a:rPr sz="1050">
                <a:solidFill>
                  <a:srgbClr val="475569"/>
                </a:solidFill>
              </a:rPr>
              <a:t>'Name must be at least 2 chars; Please enter valid email'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Valid Doctor Payload: </a:t>
            </a:r>
            <a:r>
              <a:rPr sz="1050">
                <a:solidFill>
                  <a:srgbClr val="475569"/>
                </a:solidFill>
              </a:rPr>
              <a:t>Accepted with 201 Created &amp; JWT issued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0F172A"/>
                </a:solidFill>
              </a:rPr>
              <a:t>✔ Invalid ObjectId in Booking: </a:t>
            </a:r>
            <a:r>
              <a:rPr sz="1050">
                <a:solidFill>
                  <a:srgbClr val="475569"/>
                </a:solidFill>
              </a:rPr>
              <a:t>Rejected with 400 'Must be a valid 24-character hex ObjectId'</a:t>
            </a:r>
          </a:p>
          <a:p>
            <a:br/>
            <a:pPr>
              <a:defRPr b="1" sz="1100">
                <a:solidFill>
                  <a:srgbClr val="16A34A"/>
                </a:solidFill>
              </a:defRPr>
            </a:pPr>
            <a:r>
              <a:t>Test Status: PASSED (server/test/task3_security_libraries.test.js)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ITM SLS BU — AWD SEMESTER-5 | TASK-3: SECURITY LIBRARIES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 &amp; Full Verification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284C7"/>
                </a:solidFill>
              </a:defRPr>
            </a:pPr>
            <a:r>
              <a:t>Verification Summary for Final AWD Viva-Voce: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Helmet.js Integration: </a:t>
            </a:r>
            <a:r>
              <a:rPr sz="1300">
                <a:solidFill>
                  <a:srgbClr val="475569"/>
                </a:solidFill>
              </a:rPr>
              <a:t>Active in app.js; enforces CSP, nosniff, SAMEORIGIN, and hides X-Powered-By.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bcrypt Implementation: </a:t>
            </a:r>
            <a:r>
              <a:rPr sz="1300">
                <a:solidFill>
                  <a:srgbClr val="475569"/>
                </a:solidFill>
              </a:rPr>
              <a:t>Active in authController.js; hashes passwords with 10 salt rounds and constant-time match.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Joi Middleware: </a:t>
            </a:r>
            <a:r>
              <a:rPr sz="1300">
                <a:solidFill>
                  <a:srgbClr val="475569"/>
                </a:solidFill>
              </a:rPr>
              <a:t>Active across auth and appointment routes; enforces schema boundaries and strips unknown parameters.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Test Suite Health: </a:t>
            </a:r>
            <a:r>
              <a:rPr sz="1300">
                <a:solidFill>
                  <a:srgbClr val="475569"/>
                </a:solidFill>
              </a:rPr>
              <a:t>All 31 integration and security unit tests pass with 100% success (duration ~2.0s).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F172A"/>
                </a:solidFill>
              </a:rPr>
              <a:t>✔ Curriculum Compliance: </a:t>
            </a:r>
            <a:r>
              <a:rPr sz="1300">
                <a:solidFill>
                  <a:srgbClr val="475569"/>
                </a:solidFill>
              </a:rPr>
              <a:t>100% compliant with B.Tech Semester-5 AWD syllabus deliverables.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