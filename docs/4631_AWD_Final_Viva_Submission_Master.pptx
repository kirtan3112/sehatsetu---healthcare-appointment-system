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</a:defRPr>
            </a:pPr>
            <a:r>
              <a:t>ITM SLS BU — School of Computer Science, Engineering &amp; Technology</a:t>
            </a:r>
          </a:p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CareSync — Healthcare Appointment System (HAS)</a:t>
            </a:r>
          </a:p>
          <a:p>
            <a:pPr>
              <a:spcAft>
                <a:spcPts val="2400"/>
              </a:spcAft>
              <a:defRPr sz="2000" b="1">
                <a:solidFill>
                  <a:srgbClr val="CCFBF1"/>
                </a:solidFill>
              </a:defRPr>
            </a:pPr>
            <a:r>
              <a:t>Advanced Web Development (AWD) | Final Viva-Voce Master Presentation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Course: B.Tech Semester-5 (Winter-2026)</a:t>
            </a:r>
            <a:br/>
            <a:r>
              <a:t>Complete Implementation: Task 1 (Comparative Study) | Task 2 (Security Audit) | Task 3 (Security Libraries)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REGULAR FINAL VIVA-VOCE MASTER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Task-1: Comparative Technology Study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REST API vs. GraphQL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Selected: RESTful API via Express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Enables deterministic RFC HTTP status codes (409 Conflict for double booking), simple edge caching, and granular route RBAC.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MongoDB vs. MySQL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Selected: MongoDB + Mongoose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Atomic compare-and-set slot reservations (Slot.findOneAndUpdate) and partial unique indexes on active appointments.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React 19 vs. Angular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Selected: React 19 + Vite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Sub-second HMR, interactive 14-day slot-picking grid, instant 1-click persona switching, and custom Vanilla CSS design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JWT vs. Session Auth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Selected: JWT Bearer Tokens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Stateless in-memory RBAC authorization eliminates database lookup latency on protected API requests.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REGULAR FINAL VIVA-VOCE MASTER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Task-2: Security Audit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300">
                <a:solidFill>
                  <a:srgbClr val="B45309"/>
                </a:solidFill>
              </a:rPr>
              <a:t>✔ NoSQL Injection (CWE-943): </a:t>
            </a:r>
            <a:r>
              <a:rPr sz="1200">
                <a:solidFill>
                  <a:srgbClr val="475569"/>
                </a:solidFill>
              </a:rPr>
              <a:t>Mongoose schema casting strictly typed fields; Joi validates string constraints prior to queries.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B45309"/>
                </a:solidFill>
              </a:rPr>
              <a:t>✔ Cross-Site Scripting (XSS - CWE-79): </a:t>
            </a:r>
            <a:r>
              <a:rPr sz="1200">
                <a:solidFill>
                  <a:srgbClr val="475569"/>
                </a:solidFill>
              </a:rPr>
              <a:t>React 19 auto-escapes all JSX expressions; Helmet sets CSP headers; dangerouslySetInnerHTML is 0% used.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B45309"/>
                </a:solidFill>
              </a:rPr>
              <a:t>✔ Broken Authorization (CWE-285): </a:t>
            </a:r>
            <a:r>
              <a:rPr sz="1200">
                <a:solidFill>
                  <a:srgbClr val="475569"/>
                </a:solidFill>
              </a:rPr>
              <a:t>Strict RBAC middleware (authorizeRoles) enforces least privilege; direct ADMIN registration is blocked (403).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B45309"/>
                </a:solidFill>
              </a:rPr>
              <a:t>✔ Insecure Password Storage (CWE-256): </a:t>
            </a:r>
            <a:r>
              <a:rPr sz="1200">
                <a:solidFill>
                  <a:srgbClr val="475569"/>
                </a:solidFill>
              </a:rPr>
              <a:t>bcryptjs with 10 salt rounds; User.toJSON overrides automatically strip passwordHash from network output.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B45309"/>
                </a:solidFill>
              </a:rPr>
              <a:t>✔ Concurrency Race Conditions (CWE-362): </a:t>
            </a:r>
            <a:r>
              <a:rPr sz="1200">
                <a:solidFill>
                  <a:srgbClr val="475569"/>
                </a:solidFill>
              </a:rPr>
              <a:t>Atomic findOneAndUpdate slot claims + partial unique index on active appointments (10 concurrent requests -&gt; 1 success, 9 conflicts).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REGULAR FINAL VIVA-VOCE MASTER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Task-3: Security Libraries Implementation &amp;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Helmet.js (^8.0.0) — HTTP Security Headers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Verified in app.js: sets nosniff, SAMEORIGIN, CSP, and suppresses X-Powered-By.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✔ Status: 100%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036289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bcryptjs (^3.0.2) — Password Cryptography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Verified in authController.js: generates unique salts; securely matches valid passwords; rejects invalid.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✔ Status: 100%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1036289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Joi (^18.3.0) — Input Validation Middleware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Verified in validate.js: blocks malformed emails, short passwords (&lt;6 chars), and invalid ObjectIds with 400.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✔ Status: 100% Passed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ITM SLS BU — AWD SEMESTER-5 | REGULAR FINAL VIVA-VOCE MASTER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Master Synthesis &amp; Viva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F766E"/>
                </a:solidFill>
              </a:defRPr>
            </a:pPr>
            <a:r>
              <a:t>Project Assessment Summary: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Full Task Coverage: </a:t>
            </a:r>
            <a:r>
              <a:rPr sz="1300">
                <a:solidFill>
                  <a:srgbClr val="475569"/>
                </a:solidFill>
              </a:rPr>
              <a:t>Task 1 (Comparative Study), Task 2 (Security Audit), and Task 3 (Security Libraries) are 100% completed.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Dual Deliverables Provided: </a:t>
            </a:r>
            <a:r>
              <a:rPr sz="1300">
                <a:solidFill>
                  <a:srgbClr val="475569"/>
                </a:solidFill>
              </a:rPr>
              <a:t>Individual Word &amp; PPT files for each task + Unified Master Word &amp; Master PPT presentation.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Empirical Validation: </a:t>
            </a:r>
            <a:r>
              <a:rPr sz="1300">
                <a:solidFill>
                  <a:srgbClr val="475569"/>
                </a:solidFill>
              </a:rPr>
              <a:t>Automated test suite (31 tests) passes with 100% success across concurrency, RBAC, and security libraries.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Ready for Final Defense: </a:t>
            </a:r>
            <a:r>
              <a:rPr sz="1300">
                <a:solidFill>
                  <a:srgbClr val="475569"/>
                </a:solidFill>
              </a:rPr>
              <a:t>System is fully operational and certified for ITM SLS BU Semester-5 AWD Final Viva-Voce.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